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18ECBF9-A072-4493-9DFC-E780D265D63C}"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noRot="1" noChangeAspect="1"/>
          </p:cNvSpPr>
          <p:nvPr>
            <p:ph type="sldImg"/>
          </p:nvPr>
        </p:nvSpPr>
        <p:spPr>
          <a:xfrm>
            <a:off x="685800" y="1143000"/>
            <a:ext cx="5486400" cy="308610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used as the main basis for the deck: /mnt/data/khoa_hoc_online_don_gian.cpp</a:t>
            </a:r>
          </a:p>
          <a:p>
            <a:pPr indent="0">
              <a:buNone/>
            </a:pPr>
            <a:r>
              <a:rPr lang="en-US" sz="2000" b="0" u="none" strike="noStrike">
                <a:solidFill>
                  <a:srgbClr val="000000"/>
                </a:solidFill>
                <a:effectLst/>
                <a:uFillTx/>
                <a:latin typeface="Arial"/>
              </a:rPr>
              <a:t>- Classroom photo asset: https://images.unsplash.com/photo-1758012228738-4f2b6e91ad04</a:t>
            </a:r>
          </a:p>
          <a:p>
            <a:pPr indent="0">
              <a:lnSpc>
                <a:spcPct val="100000"/>
              </a:lnSpc>
              <a:buNone/>
            </a:pPr>
            <a:r>
              <a:rPr lang="en-US" sz="2000" b="0" u="none" strike="noStrike">
                <a:solidFill>
                  <a:srgbClr val="000000"/>
                </a:solidFill>
                <a:effectLst/>
                <a:uFillTx/>
                <a:latin typeface="Arial"/>
              </a:rPr>
              <a:t>- C++ logo asset: https://commons.wikimedia.org/wiki/File:ISO_C%2B%2B_Logo.svg</a:t>
            </a:r>
          </a:p>
        </p:txBody>
      </p:sp>
      <p:sp>
        <p:nvSpPr>
          <p:cNvPr id="17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06F551-8881-465C-B070-D660EE00FD7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noRot="1" noChangeAspect="1"/>
          </p:cNvSpPr>
          <p:nvPr>
            <p:ph type="sldImg"/>
          </p:nvPr>
        </p:nvSpPr>
        <p:spPr>
          <a:xfrm>
            <a:off x="685800" y="1143000"/>
            <a:ext cx="5486400" cy="3086100"/>
          </a:xfrm>
          <a:prstGeom prst="rect">
            <a:avLst/>
          </a:prstGeom>
          <a:ln w="0">
            <a:noFill/>
          </a:ln>
        </p:spPr>
      </p:sp>
      <p:sp>
        <p:nvSpPr>
          <p:cNvPr id="1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used to derive the topic scope and technology stack: /mnt/data/khoa_hoc_online_don_gian.cpp</a:t>
            </a:r>
          </a:p>
          <a:p>
            <a:pPr indent="0">
              <a:lnSpc>
                <a:spcPct val="100000"/>
              </a:lnSpc>
              <a:buNone/>
            </a:pPr>
            <a:r>
              <a:rPr lang="en-US" sz="2000" b="0" u="none" strike="noStrike">
                <a:solidFill>
                  <a:srgbClr val="000000"/>
                </a:solidFill>
                <a:effectLst/>
                <a:uFillTx/>
                <a:latin typeface="Arial"/>
              </a:rPr>
              <a:t>- Teamwork photo asset: https://unsplash.com/photos/EA0-iajPYFE/download?force=true</a:t>
            </a:r>
          </a:p>
        </p:txBody>
      </p:sp>
      <p:sp>
        <p:nvSpPr>
          <p:cNvPr id="177"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59FA9F-5969-4E0F-9F63-1C8DDA0C0A6C}"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noRot="1" noChangeAspect="1"/>
          </p:cNvSpPr>
          <p:nvPr>
            <p:ph type="sldImg"/>
          </p:nvPr>
        </p:nvSpPr>
        <p:spPr>
          <a:xfrm>
            <a:off x="685800" y="1143000"/>
            <a:ext cx="5486400" cy="3086100"/>
          </a:xfrm>
          <a:prstGeom prst="rect">
            <a:avLst/>
          </a:prstGeom>
          <a:ln w="0">
            <a:noFill/>
          </a:ln>
        </p:spPr>
      </p:sp>
      <p:sp>
        <p:nvSpPr>
          <p:cNvPr id="1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UNESCO article on digital learning and educational transformation: https://www.unesco.org/en/articles/qa-how-unesco-driving-digital-learning-and-transformation-education</a:t>
            </a:r>
          </a:p>
          <a:p>
            <a:pPr indent="0">
              <a:buNone/>
            </a:pPr>
            <a:r>
              <a:rPr lang="en-US" sz="2000" b="0" u="none" strike="noStrike">
                <a:solidFill>
                  <a:srgbClr val="000000"/>
                </a:solidFill>
                <a:effectLst/>
                <a:uFillTx/>
                <a:latin typeface="Arial"/>
              </a:rPr>
              <a:t>- University of Illinois Springfield, student self-service registration page: https://www.uis.edu/registrar/registration/registration-process-and-self-service-system</a:t>
            </a:r>
          </a:p>
          <a:p>
            <a:pPr indent="0">
              <a:lnSpc>
                <a:spcPct val="100000"/>
              </a:lnSpc>
              <a:buNone/>
            </a:pPr>
            <a:r>
              <a:rPr lang="en-US" sz="2000" b="0" u="none" strike="noStrike">
                <a:solidFill>
                  <a:srgbClr val="000000"/>
                </a:solidFill>
                <a:effectLst/>
                <a:uFillTx/>
                <a:latin typeface="Arial"/>
              </a:rPr>
              <a:t>- Online learning photo asset: https://images.pexels.com/photos/5905711/pexels-photo-5905711.jpeg</a:t>
            </a:r>
          </a:p>
        </p:txBody>
      </p:sp>
      <p:sp>
        <p:nvSpPr>
          <p:cNvPr id="18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9BA3026-1C1F-4143-94ED-5B0265CD8633}"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noRot="1" noChangeAspect="1"/>
          </p:cNvSpPr>
          <p:nvPr>
            <p:ph type="sldImg"/>
          </p:nvPr>
        </p:nvSpPr>
        <p:spPr>
          <a:xfrm>
            <a:off x="685800" y="1143000"/>
            <a:ext cx="5486400" cy="3086100"/>
          </a:xfrm>
          <a:prstGeom prst="rect">
            <a:avLst/>
          </a:prstGeom>
          <a:ln w="0">
            <a:noFill/>
          </a:ln>
        </p:spPr>
      </p:sp>
      <p:sp>
        <p:nvSpPr>
          <p:cNvPr id="1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for system scope and implemented features: /mnt/data/khoa_hoc_online_don_gian.cpp</a:t>
            </a:r>
          </a:p>
          <a:p>
            <a:pPr indent="0">
              <a:buNone/>
            </a:pPr>
            <a:r>
              <a:rPr lang="en-US" sz="2000" b="0" u="none" strike="noStrike">
                <a:solidFill>
                  <a:srgbClr val="000000"/>
                </a:solidFill>
                <a:effectLst/>
                <a:uFillTx/>
                <a:latin typeface="Arial"/>
              </a:rPr>
              <a:t>- Online student photo asset: https://images.unsplash.com/photo-1597933471507-1ca5765185d8</a:t>
            </a:r>
          </a:p>
          <a:p>
            <a:pPr indent="0">
              <a:lnSpc>
                <a:spcPct val="100000"/>
              </a:lnSpc>
              <a:buNone/>
            </a:pPr>
            <a:r>
              <a:rPr lang="en-US" sz="2000" b="0" u="none" strike="noStrike">
                <a:solidFill>
                  <a:srgbClr val="000000"/>
                </a:solidFill>
                <a:effectLst/>
                <a:uFillTx/>
                <a:latin typeface="Arial"/>
              </a:rPr>
              <a:t>- Self-service reference page: https://www.uis.edu/registrar/registration/registration-process-and-self-service-system</a:t>
            </a:r>
          </a:p>
        </p:txBody>
      </p:sp>
      <p:sp>
        <p:nvSpPr>
          <p:cNvPr id="18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D59E521-3F39-4CD3-B246-0B375DDA84C2}"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noRot="1" noChangeAspect="1"/>
          </p:cNvSpPr>
          <p:nvPr>
            <p:ph type="sldImg"/>
          </p:nvPr>
        </p:nvSpPr>
        <p:spPr>
          <a:xfrm>
            <a:off x="685800" y="1143000"/>
            <a:ext cx="5486400" cy="3086100"/>
          </a:xfrm>
          <a:prstGeom prst="rect">
            <a:avLst/>
          </a:prstGeom>
          <a:ln w="0">
            <a:noFill/>
          </a:ln>
        </p:spPr>
      </p:sp>
      <p:sp>
        <p:nvSpPr>
          <p:cNvPr id="1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lnSpc>
                <a:spcPct val="100000"/>
              </a:lnSpc>
              <a:buNone/>
            </a:pPr>
            <a:r>
              <a:rPr lang="en-US" sz="2000" b="0" u="none" strike="noStrike">
                <a:solidFill>
                  <a:srgbClr val="000000"/>
                </a:solidFill>
                <a:effectLst/>
                <a:uFillTx/>
                <a:latin typeface="Arial"/>
              </a:rPr>
              <a:t>- User-uploaded source code for the menu functions, input requirements, and registration logic: /mnt/data/khoa_hoc_online_don_gian.cpp</a:t>
            </a:r>
          </a:p>
        </p:txBody>
      </p:sp>
      <p:sp>
        <p:nvSpPr>
          <p:cNvPr id="18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3E2F10-A705-44F9-831B-25F94572CF5C}"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noRot="1" noChangeAspect="1"/>
          </p:cNvSpPr>
          <p:nvPr>
            <p:ph type="sldImg"/>
          </p:nvPr>
        </p:nvSpPr>
        <p:spPr>
          <a:xfrm>
            <a:off x="685800" y="1143000"/>
            <a:ext cx="5486400" cy="308610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with line ranges referenced in this slide: /mnt/data/khoa_hoc_online_don_gian.cpp</a:t>
            </a:r>
          </a:p>
          <a:p>
            <a:pPr indent="0">
              <a:lnSpc>
                <a:spcPct val="100000"/>
              </a:lnSpc>
              <a:buNone/>
            </a:pPr>
            <a:r>
              <a:rPr lang="en-US" sz="2000" b="0" u="none" strike="noStrike">
                <a:solidFill>
                  <a:srgbClr val="000000"/>
                </a:solidFill>
                <a:effectLst/>
                <a:uFillTx/>
                <a:latin typeface="Arial"/>
              </a:rPr>
              <a:t>- Programming image asset: https://images.pexels.com/photos/6424590/pexels-photo-6424590.jpeg</a:t>
            </a:r>
          </a:p>
        </p:txBody>
      </p:sp>
      <p:sp>
        <p:nvSpPr>
          <p:cNvPr id="18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D70B4FD-CDD0-4222-B1B0-D36720C05E8A}"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noRot="1" noChangeAspect="1"/>
          </p:cNvSpPr>
          <p:nvPr>
            <p:ph type="sldImg"/>
          </p:nvPr>
        </p:nvSpPr>
        <p:spPr>
          <a:xfrm>
            <a:off x="685800" y="1143000"/>
            <a:ext cx="5486400" cy="308610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lnSpc>
                <a:spcPct val="100000"/>
              </a:lnSpc>
              <a:buNone/>
            </a:pPr>
            <a:r>
              <a:rPr lang="en-US" sz="2000" b="0" u="none" strike="noStrike">
                <a:solidFill>
                  <a:srgbClr val="000000"/>
                </a:solidFill>
                <a:effectLst/>
                <a:uFillTx/>
                <a:latin typeface="Arial"/>
              </a:rPr>
              <a:t>- User-uploaded source code for class roles and applied OOP techniques: /mnt/data/khoa_hoc_online_don_gian.cpp</a:t>
            </a:r>
          </a:p>
        </p:txBody>
      </p:sp>
      <p:sp>
        <p:nvSpPr>
          <p:cNvPr id="192"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F3264A-1601-4079-B112-17740F61618A}"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noRot="1" noChangeAspect="1"/>
          </p:cNvSpPr>
          <p:nvPr>
            <p:ph type="sldImg"/>
          </p:nvPr>
        </p:nvSpPr>
        <p:spPr>
          <a:xfrm>
            <a:off x="685800" y="1143000"/>
            <a:ext cx="5486400" cy="3086100"/>
          </a:xfrm>
          <a:prstGeom prst="rect">
            <a:avLst/>
          </a:prstGeom>
          <a:ln w="0">
            <a:noFill/>
          </a:ln>
        </p:spPr>
      </p:sp>
      <p:sp>
        <p:nvSpPr>
          <p:cNvPr id="1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lnSpc>
                <a:spcPct val="100000"/>
              </a:lnSpc>
              <a:buNone/>
            </a:pPr>
            <a:r>
              <a:rPr lang="en-US" sz="2000" b="0" u="none" strike="noStrike">
                <a:solidFill>
                  <a:srgbClr val="000000"/>
                </a:solidFill>
                <a:effectLst/>
                <a:uFillTx/>
                <a:latin typeface="Arial"/>
              </a:rPr>
              <a:t>- User-uploaded source code used to reconstruct the UML class diagram: /mnt/data/khoa_hoc_online_don_gian.cpp</a:t>
            </a:r>
          </a:p>
        </p:txBody>
      </p:sp>
      <p:sp>
        <p:nvSpPr>
          <p:cNvPr id="195"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7D987F-2C48-4408-BBC1-5101CB4768C3}"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noRot="1" noChangeAspect="1"/>
          </p:cNvSpPr>
          <p:nvPr>
            <p:ph type="sldImg"/>
          </p:nvPr>
        </p:nvSpPr>
        <p:spPr>
          <a:xfrm>
            <a:off x="685800" y="1143000"/>
            <a:ext cx="5486400" cy="3086100"/>
          </a:xfrm>
          <a:prstGeom prst="rect">
            <a:avLst/>
          </a:prstGeom>
          <a:ln w="0">
            <a:noFill/>
          </a:ln>
        </p:spPr>
      </p:sp>
      <p:sp>
        <p:nvSpPr>
          <p:cNvPr id="1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lnSpc>
                <a:spcPct val="100000"/>
              </a:lnSpc>
              <a:buNone/>
            </a:pPr>
            <a:r>
              <a:rPr lang="en-US" sz="2000" b="0" u="none" strike="noStrike">
                <a:solidFill>
                  <a:srgbClr val="000000"/>
                </a:solidFill>
                <a:effectLst/>
                <a:uFillTx/>
                <a:latin typeface="Arial"/>
              </a:rPr>
              <a:t>- User-uploaded source code for the menu loop, preconditions, and registration flow: /mnt/data/khoa_hoc_online_don_gian.cpp</a:t>
            </a:r>
          </a:p>
        </p:txBody>
      </p:sp>
      <p:sp>
        <p:nvSpPr>
          <p:cNvPr id="198"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560218-31C3-4CB0-854B-063B6EFEE6A3}"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noRot="1" noChangeAspect="1"/>
          </p:cNvSpPr>
          <p:nvPr>
            <p:ph type="sldImg"/>
          </p:nvPr>
        </p:nvSpPr>
        <p:spPr>
          <a:xfrm>
            <a:off x="685800" y="1143000"/>
            <a:ext cx="5486400" cy="3086100"/>
          </a:xfrm>
          <a:prstGeom prst="rect">
            <a:avLst/>
          </a:prstGeom>
          <a:ln w="0">
            <a:noFill/>
          </a:ln>
        </p:spPr>
      </p:sp>
      <p:sp>
        <p:nvSpPr>
          <p:cNvPr id="2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for validation and registration snippets: /mnt/data/khoa_hoc_online_don_gian.cpp</a:t>
            </a:r>
          </a:p>
          <a:p>
            <a:pPr indent="0">
              <a:lnSpc>
                <a:spcPct val="100000"/>
              </a:lnSpc>
              <a:buNone/>
            </a:pPr>
            <a:r>
              <a:rPr lang="en-US" sz="2000" b="0" u="none" strike="noStrike">
                <a:solidFill>
                  <a:srgbClr val="000000"/>
                </a:solidFill>
                <a:effectLst/>
                <a:uFillTx/>
                <a:latin typeface="Arial"/>
              </a:rPr>
              <a:t>- Programming close-up image asset: https://images.pexels.com/photos/3888151/pexels-photo-3888151.jpeg</a:t>
            </a:r>
          </a:p>
        </p:txBody>
      </p:sp>
      <p:sp>
        <p:nvSpPr>
          <p:cNvPr id="20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723196-006A-4496-BDA0-BAACF830CE16}"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noRot="1" noChangeAspect="1"/>
          </p:cNvSpPr>
          <p:nvPr>
            <p:ph type="sldImg"/>
          </p:nvPr>
        </p:nvSpPr>
        <p:spPr>
          <a:xfrm>
            <a:off x="685800" y="1143000"/>
            <a:ext cx="5486400" cy="3086100"/>
          </a:xfrm>
          <a:prstGeom prst="rect">
            <a:avLst/>
          </a:prstGeom>
          <a:ln w="0">
            <a:noFill/>
          </a:ln>
        </p:spPr>
      </p:sp>
      <p:sp>
        <p:nvSpPr>
          <p:cNvPr id="2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compiled and run to create the demo scenario: /mnt/data/khoa_hoc_online_don_gian.cpp</a:t>
            </a:r>
          </a:p>
          <a:p>
            <a:pPr indent="0">
              <a:lnSpc>
                <a:spcPct val="100000"/>
              </a:lnSpc>
              <a:buNone/>
            </a:pPr>
            <a:r>
              <a:rPr lang="en-US" sz="2000" b="0" u="none" strike="noStrike">
                <a:solidFill>
                  <a:srgbClr val="000000"/>
                </a:solidFill>
                <a:effectLst/>
                <a:uFillTx/>
                <a:latin typeface="Arial"/>
              </a:rPr>
              <a:t>- Generated console output used in this slide: /mnt/data/oop_ppt_work/demo_output.txt</a:t>
            </a:r>
          </a:p>
        </p:txBody>
      </p:sp>
      <p:sp>
        <p:nvSpPr>
          <p:cNvPr id="20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5B7C45-3212-430B-93EF-D10DB743AC04}"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noRot="1" noChangeAspect="1"/>
          </p:cNvSpPr>
          <p:nvPr>
            <p:ph type="sldImg"/>
          </p:nvPr>
        </p:nvSpPr>
        <p:spPr>
          <a:xfrm>
            <a:off x="685800" y="1143000"/>
            <a:ext cx="5486400" cy="3086100"/>
          </a:xfrm>
          <a:prstGeom prst="rect">
            <a:avLst/>
          </a:prstGeom>
          <a:ln w="0">
            <a:noFill/>
          </a:ln>
        </p:spPr>
      </p:sp>
      <p:sp>
        <p:nvSpPr>
          <p:cNvPr id="2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used to assess strengths and current limitations: /mnt/data/khoa_hoc_online_don_gian.cpp</a:t>
            </a:r>
          </a:p>
          <a:p>
            <a:pPr indent="0">
              <a:lnSpc>
                <a:spcPct val="100000"/>
              </a:lnSpc>
              <a:buNone/>
            </a:pPr>
            <a:r>
              <a:rPr lang="en-US" sz="2000" b="0" u="none" strike="noStrike">
                <a:solidFill>
                  <a:srgbClr val="000000"/>
                </a:solidFill>
                <a:effectLst/>
                <a:uFillTx/>
                <a:latin typeface="Arial"/>
              </a:rPr>
              <a:t>- Reference for typical online course registration system extensions: https://www.ijraset.com/research-paper/online-course-registration-management-system</a:t>
            </a:r>
          </a:p>
        </p:txBody>
      </p:sp>
      <p:sp>
        <p:nvSpPr>
          <p:cNvPr id="20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12145F-6C50-4481-87E7-E4BAE55D4A7E}"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noRot="1" noChangeAspect="1"/>
          </p:cNvSpPr>
          <p:nvPr>
            <p:ph type="sldImg"/>
          </p:nvPr>
        </p:nvSpPr>
        <p:spPr>
          <a:xfrm>
            <a:off x="685800" y="1143000"/>
            <a:ext cx="5486400" cy="3086100"/>
          </a:xfrm>
          <a:prstGeom prst="rect">
            <a:avLst/>
          </a:prstGeom>
          <a:ln w="0">
            <a:noFill/>
          </a:ln>
        </p:spPr>
      </p:sp>
      <p:sp>
        <p:nvSpPr>
          <p:cNvPr id="2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[Sources]</a:t>
            </a:r>
          </a:p>
          <a:p>
            <a:pPr indent="0">
              <a:buNone/>
            </a:pPr>
            <a:r>
              <a:rPr lang="en-US" sz="2000" b="0" u="none" strike="noStrike">
                <a:solidFill>
                  <a:srgbClr val="000000"/>
                </a:solidFill>
                <a:effectLst/>
                <a:uFillTx/>
                <a:latin typeface="Arial"/>
              </a:rPr>
              <a:t>- User-uploaded source code as the basis for the conclusion and future extensions: /mnt/data/khoa_hoc_online_don_gian.cpp</a:t>
            </a:r>
          </a:p>
          <a:p>
            <a:pPr indent="0">
              <a:lnSpc>
                <a:spcPct val="100000"/>
              </a:lnSpc>
              <a:buNone/>
            </a:pPr>
            <a:r>
              <a:rPr lang="en-US" sz="2000" b="0" u="none" strike="noStrike">
                <a:solidFill>
                  <a:srgbClr val="000000"/>
                </a:solidFill>
                <a:effectLst/>
                <a:uFillTx/>
                <a:latin typeface="Arial"/>
              </a:rPr>
              <a:t>- Reference for future system extensions: https://www.ijraset.com/research-paper/online-course-registration-management-system</a:t>
            </a:r>
          </a:p>
        </p:txBody>
      </p:sp>
      <p:sp>
        <p:nvSpPr>
          <p:cNvPr id="210"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AA2BFE-A550-4529-AEC5-9A2A8A1CE83E}"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8" name="Shape 0"/>
          <p:cNvSpPr/>
          <p:nvPr/>
        </p:nvSpPr>
        <p:spPr>
          <a:xfrm>
            <a:off x="0" y="0"/>
            <a:ext cx="12191400" cy="16416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pic>
        <p:nvPicPr>
          <p:cNvPr id="9" name="Image 0" descr="/mnt/data/oop_ppt_work/assets/classroom_unsplash.jpg"/>
          <p:cNvPicPr/>
          <p:nvPr/>
        </p:nvPicPr>
        <p:blipFill>
          <a:blip r:embed="rId3"/>
          <a:srcRect l="20418" r="20418"/>
          <a:stretch/>
        </p:blipFill>
        <p:spPr>
          <a:xfrm>
            <a:off x="6492240" y="164520"/>
            <a:ext cx="5696280" cy="6418800"/>
          </a:xfrm>
          <a:prstGeom prst="rect">
            <a:avLst/>
          </a:prstGeom>
          <a:noFill/>
          <a:ln w="0">
            <a:noFill/>
          </a:ln>
        </p:spPr>
      </p:pic>
      <p:sp>
        <p:nvSpPr>
          <p:cNvPr id="10" name="Text 1"/>
          <p:cNvSpPr/>
          <p:nvPr/>
        </p:nvSpPr>
        <p:spPr>
          <a:xfrm>
            <a:off x="749880" y="567000"/>
            <a:ext cx="19656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80" b="1" u="none" strike="noStrike">
                <a:solidFill>
                  <a:srgbClr val="1E5AA8"/>
                </a:solidFill>
                <a:effectLst/>
                <a:uFillTx/>
                <a:latin typeface="Times New Roman" panose="02020603050405020304" pitchFamily="18" charset="0"/>
                <a:cs typeface="Times New Roman" panose="02020603050405020304" pitchFamily="18" charset="0"/>
              </a:rPr>
              <a:t>BÀI TẬP LỚN MÔN</a:t>
            </a:r>
            <a:endParaRPr lang="en-US" sz="1380" b="0" u="none" strike="noStrike">
              <a:solidFill>
                <a:srgbClr val="000000"/>
              </a:solidFill>
              <a:effectLst/>
              <a:uFillTx/>
              <a:latin typeface="Times New Roman" panose="02020603050405020304" pitchFamily="18" charset="0"/>
              <a:cs typeface="Times New Roman" panose="02020603050405020304" pitchFamily="18" charset="0"/>
            </a:endParaRPr>
          </a:p>
        </p:txBody>
      </p:sp>
      <p:pic>
        <p:nvPicPr>
          <p:cNvPr id="11" name="Image 1" descr="/mnt/data/oop_ppt_work/assets/cpp_logo.png"/>
          <p:cNvPicPr/>
          <p:nvPr/>
        </p:nvPicPr>
        <p:blipFill>
          <a:blip r:embed="rId4"/>
          <a:stretch/>
        </p:blipFill>
        <p:spPr>
          <a:xfrm>
            <a:off x="760320" y="896040"/>
            <a:ext cx="893160" cy="1005480"/>
          </a:xfrm>
          <a:prstGeom prst="rect">
            <a:avLst/>
          </a:prstGeom>
          <a:noFill/>
          <a:ln w="0">
            <a:noFill/>
          </a:ln>
        </p:spPr>
      </p:pic>
      <p:sp>
        <p:nvSpPr>
          <p:cNvPr id="12" name="Text 2"/>
          <p:cNvSpPr/>
          <p:nvPr/>
        </p:nvSpPr>
        <p:spPr>
          <a:xfrm>
            <a:off x="1828800" y="1024200"/>
            <a:ext cx="42516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50" b="1" u="none" strike="noStrike" dirty="0">
                <a:solidFill>
                  <a:srgbClr val="16304A"/>
                </a:solidFill>
                <a:effectLst/>
                <a:uFillTx/>
                <a:latin typeface="Times New Roman" panose="02020603050405020304" pitchFamily="18" charset="0"/>
                <a:cs typeface="Times New Roman" panose="02020603050405020304" pitchFamily="18" charset="0"/>
              </a:rPr>
              <a:t>LẬP TRÌNH HƯỚNG ĐỐI TƯỢNG</a:t>
            </a:r>
            <a:endParaRPr lang="en-US" sz="175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3" name="Text 3"/>
          <p:cNvSpPr/>
          <p:nvPr/>
        </p:nvSpPr>
        <p:spPr>
          <a:xfrm>
            <a:off x="749880" y="2084760"/>
            <a:ext cx="5440320" cy="895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550" b="1" u="none" strike="noStrike" dirty="0">
                <a:solidFill>
                  <a:srgbClr val="10233F"/>
                </a:solidFill>
                <a:effectLst/>
                <a:uFillTx/>
                <a:latin typeface="Times New Roman" panose="02020603050405020304" pitchFamily="18" charset="0"/>
                <a:cs typeface="Times New Roman" panose="02020603050405020304" pitchFamily="18" charset="0"/>
              </a:rPr>
              <a:t>HỆ THỐNG</a:t>
            </a:r>
            <a:endParaRPr lang="en-US" sz="255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2550" b="1" u="none" strike="noStrike" dirty="0">
                <a:solidFill>
                  <a:srgbClr val="10233F"/>
                </a:solidFill>
                <a:effectLst/>
                <a:uFillTx/>
                <a:latin typeface="Times New Roman" panose="02020603050405020304" pitchFamily="18" charset="0"/>
                <a:cs typeface="Times New Roman" panose="02020603050405020304" pitchFamily="18" charset="0"/>
              </a:rPr>
              <a:t>ĐĂNG KÝ KHÓA HỌC ONLINE</a:t>
            </a:r>
            <a:endParaRPr lang="en-US" sz="255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4" name="Text 4"/>
          <p:cNvSpPr/>
          <p:nvPr/>
        </p:nvSpPr>
        <p:spPr>
          <a:xfrm>
            <a:off x="749880" y="3200400"/>
            <a:ext cx="5394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endParaRPr lang="en-US" sz="132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5" name="Text 5"/>
          <p:cNvSpPr/>
          <p:nvPr/>
        </p:nvSpPr>
        <p:spPr>
          <a:xfrm>
            <a:off x="685800" y="3319890"/>
            <a:ext cx="5394600" cy="253296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55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Thông</a:t>
            </a:r>
            <a:r>
              <a:rPr lang="en-US" sz="155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tin </a:t>
            </a:r>
            <a:r>
              <a:rPr lang="en-US" sz="155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trình</a:t>
            </a:r>
            <a:r>
              <a:rPr lang="en-US" sz="155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bày</a:t>
            </a:r>
            <a:endParaRPr lang="en-US" sz="155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vi-VN"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Giảng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hướng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dẫn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i="0" dirty="0" err="1">
                <a:solidFill>
                  <a:srgbClr val="333333"/>
                </a:solidFill>
                <a:effectLst/>
                <a:latin typeface="Roboto" panose="020B0604020202020204" pitchFamily="2" charset="0"/>
              </a:rPr>
              <a:t>Nguyễn</a:t>
            </a:r>
            <a:r>
              <a:rPr lang="en-US" sz="1400" b="0" i="0" dirty="0">
                <a:solidFill>
                  <a:srgbClr val="333333"/>
                </a:solidFill>
                <a:effectLst/>
                <a:latin typeface="Roboto" panose="020B0604020202020204" pitchFamily="2" charset="0"/>
              </a:rPr>
              <a:t> </a:t>
            </a:r>
            <a:r>
              <a:rPr lang="en-US" sz="1400" b="0" i="0" dirty="0" err="1">
                <a:solidFill>
                  <a:srgbClr val="333333"/>
                </a:solidFill>
                <a:effectLst/>
                <a:latin typeface="Roboto" panose="020B0604020202020204" pitchFamily="2" charset="0"/>
              </a:rPr>
              <a:t>Thị</a:t>
            </a:r>
            <a:r>
              <a:rPr lang="en-US" sz="1400" b="0" i="0" dirty="0">
                <a:solidFill>
                  <a:srgbClr val="333333"/>
                </a:solidFill>
                <a:effectLst/>
                <a:latin typeface="Roboto" panose="020B0604020202020204" pitchFamily="2" charset="0"/>
              </a:rPr>
              <a:t> </a:t>
            </a:r>
            <a:r>
              <a:rPr lang="en-US" sz="1400" b="0" i="0" dirty="0" err="1">
                <a:solidFill>
                  <a:srgbClr val="333333"/>
                </a:solidFill>
                <a:effectLst/>
                <a:latin typeface="Roboto" panose="020B0604020202020204" pitchFamily="2" charset="0"/>
              </a:rPr>
              <a:t>Tố</a:t>
            </a:r>
            <a:r>
              <a:rPr lang="en-US" sz="1400" b="0" i="0" dirty="0">
                <a:solidFill>
                  <a:srgbClr val="333333"/>
                </a:solidFill>
                <a:effectLst/>
                <a:latin typeface="Roboto" panose="020B0604020202020204" pitchFamily="2" charset="0"/>
              </a:rPr>
              <a:t> </a:t>
            </a:r>
            <a:r>
              <a:rPr lang="en-US" sz="1400" b="0" i="0" dirty="0" err="1">
                <a:solidFill>
                  <a:srgbClr val="333333"/>
                </a:solidFill>
                <a:effectLst/>
                <a:latin typeface="Roboto" panose="020B0604020202020204" pitchFamily="2" charset="0"/>
              </a:rPr>
              <a:t>Uyên</a:t>
            </a:r>
            <a:endPar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endParaRPr>
          </a:p>
          <a:p>
            <a:pPr defTabSz="914400">
              <a:lnSpc>
                <a:spcPct val="100000"/>
              </a:lnSpc>
              <a:tabLst>
                <a:tab pos="0" algn="l"/>
              </a:tabLst>
            </a:pPr>
            <a:endParaRPr lang="vi-VN" sz="1400" dirty="0">
              <a:solidFill>
                <a:srgbClr val="16304A"/>
              </a:solidFill>
              <a:latin typeface="Times New Roman" panose="02020603050405020304" pitchFamily="18" charset="0"/>
              <a:ea typeface="Calibri"/>
              <a:cs typeface="Times New Roman" panose="02020603050405020304" pitchFamily="18" charset="0"/>
            </a:endParaRPr>
          </a:p>
          <a:p>
            <a:pPr defTabSz="914400">
              <a:lnSpc>
                <a:spcPct val="100000"/>
              </a:lnSpc>
              <a:tabLst>
                <a:tab pos="0" algn="l"/>
              </a:tabLst>
            </a:pPr>
            <a:r>
              <a:rPr lang="vi-VN" sz="1400" dirty="0">
                <a:solidFill>
                  <a:srgbClr val="16304A"/>
                </a:solidFill>
                <a:latin typeface="Times New Roman" panose="02020603050405020304" pitchFamily="18" charset="0"/>
                <a:ea typeface="Calibri"/>
                <a:cs typeface="Times New Roman" panose="02020603050405020304" pitchFamily="18" charset="0"/>
              </a:rPr>
              <a:t>Thành viên nhóm 5: </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Bùi</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Văn</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Hoàng</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Giang</a:t>
            </a:r>
            <a:r>
              <a:rPr lang="en-US" sz="1400" b="0" i="0" dirty="0">
                <a:solidFill>
                  <a:srgbClr val="081B3A"/>
                </a:solidFill>
                <a:effectLst/>
                <a:latin typeface="Times New Roman" panose="02020603050405020304" pitchFamily="18" charset="0"/>
                <a:cs typeface="Times New Roman" panose="02020603050405020304" pitchFamily="18" charset="0"/>
              </a:rPr>
              <a:t> - 23A1201D0088</a:t>
            </a: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Phùng</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Xuân</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Hải</a:t>
            </a:r>
            <a:r>
              <a:rPr lang="en-US" sz="1400" b="0" i="0" dirty="0">
                <a:solidFill>
                  <a:srgbClr val="081B3A"/>
                </a:solidFill>
                <a:effectLst/>
                <a:latin typeface="Times New Roman" panose="02020603050405020304" pitchFamily="18" charset="0"/>
                <a:cs typeface="Times New Roman" panose="02020603050405020304" pitchFamily="18" charset="0"/>
              </a:rPr>
              <a:t> - 23A1201D0099</a:t>
            </a: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Đinh</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Việt</a:t>
            </a:r>
            <a:r>
              <a:rPr lang="en-US" sz="1400" b="0" i="0" dirty="0">
                <a:solidFill>
                  <a:srgbClr val="081B3A"/>
                </a:solidFill>
                <a:effectLst/>
                <a:latin typeface="Times New Roman" panose="02020603050405020304" pitchFamily="18" charset="0"/>
                <a:cs typeface="Times New Roman" panose="02020603050405020304" pitchFamily="18" charset="0"/>
              </a:rPr>
              <a:t> Anh - 23A1201D0010</a:t>
            </a: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Nguyễn</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Đinh</a:t>
            </a:r>
            <a:r>
              <a:rPr lang="en-US" sz="1400" b="0" i="0" dirty="0">
                <a:solidFill>
                  <a:srgbClr val="081B3A"/>
                </a:solidFill>
                <a:effectLst/>
                <a:latin typeface="Times New Roman" panose="02020603050405020304" pitchFamily="18" charset="0"/>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Trọng</a:t>
            </a:r>
            <a:r>
              <a:rPr lang="en-US" sz="1400" b="0" i="0" dirty="0">
                <a:solidFill>
                  <a:srgbClr val="081B3A"/>
                </a:solidFill>
                <a:effectLst/>
                <a:latin typeface="Times New Roman" panose="02020603050405020304" pitchFamily="18" charset="0"/>
                <a:cs typeface="Times New Roman" panose="02020603050405020304" pitchFamily="18" charset="0"/>
              </a:rPr>
              <a:t> - 23A1201D0258</a:t>
            </a:r>
          </a:p>
          <a:p>
            <a:pPr>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i="0" dirty="0" err="1">
                <a:solidFill>
                  <a:srgbClr val="081B3A"/>
                </a:solidFill>
                <a:effectLst/>
                <a:latin typeface="Times New Roman" panose="02020603050405020304" pitchFamily="18" charset="0"/>
                <a:cs typeface="Times New Roman" panose="02020603050405020304" pitchFamily="18" charset="0"/>
              </a:rPr>
              <a:t>Phạm</a:t>
            </a:r>
            <a:r>
              <a:rPr lang="en-US" sz="1400" b="0" i="0" dirty="0">
                <a:solidFill>
                  <a:srgbClr val="081B3A"/>
                </a:solidFill>
                <a:effectLst/>
                <a:latin typeface="Times New Roman" panose="02020603050405020304" pitchFamily="18" charset="0"/>
                <a:cs typeface="Times New Roman" panose="02020603050405020304" pitchFamily="18" charset="0"/>
              </a:rPr>
              <a:t> Gia </a:t>
            </a:r>
            <a:r>
              <a:rPr lang="en-US" sz="1400" b="0" i="0" dirty="0" err="1">
                <a:solidFill>
                  <a:srgbClr val="081B3A"/>
                </a:solidFill>
                <a:effectLst/>
                <a:latin typeface="Times New Roman" panose="02020603050405020304" pitchFamily="18" charset="0"/>
                <a:cs typeface="Times New Roman" panose="02020603050405020304" pitchFamily="18" charset="0"/>
              </a:rPr>
              <a:t>Khiêm</a:t>
            </a:r>
            <a:r>
              <a:rPr lang="en-US" sz="1400" b="0" i="0" dirty="0">
                <a:solidFill>
                  <a:srgbClr val="081B3A"/>
                </a:solidFill>
                <a:effectLst/>
                <a:latin typeface="Times New Roman" panose="02020603050405020304" pitchFamily="18" charset="0"/>
                <a:cs typeface="Times New Roman" panose="02020603050405020304" pitchFamily="18" charset="0"/>
              </a:rPr>
              <a:t> - 23A1201D0147</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6" name="Text 6"/>
          <p:cNvSpPr/>
          <p:nvPr/>
        </p:nvSpPr>
        <p:spPr>
          <a:xfrm>
            <a:off x="749880" y="6108120"/>
            <a:ext cx="54403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endParaRPr lang="en-US" sz="106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7"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18"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9"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20"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1"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2</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22"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Thông tin đề tài, giảng viên và nhóm thực hiện</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23"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24" name="Image 0" descr="/mnt/data/oop_ppt_work/assets/students_collab_unsplash.jpg"/>
          <p:cNvPicPr/>
          <p:nvPr/>
        </p:nvPicPr>
        <p:blipFill>
          <a:blip r:embed="rId3"/>
          <a:srcRect l="20732" r="20732"/>
          <a:stretch/>
        </p:blipFill>
        <p:spPr>
          <a:xfrm>
            <a:off x="713160" y="1143000"/>
            <a:ext cx="4708800" cy="4525920"/>
          </a:xfrm>
          <a:prstGeom prst="rect">
            <a:avLst/>
          </a:prstGeom>
          <a:noFill/>
          <a:ln w="0">
            <a:noFill/>
          </a:ln>
        </p:spPr>
      </p:pic>
      <p:sp>
        <p:nvSpPr>
          <p:cNvPr id="25" name="Text 7"/>
          <p:cNvSpPr/>
          <p:nvPr/>
        </p:nvSpPr>
        <p:spPr>
          <a:xfrm>
            <a:off x="713160" y="5742360"/>
            <a:ext cx="4708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i="1" u="none" strike="noStrike">
                <a:solidFill>
                  <a:srgbClr val="6B7A88"/>
                </a:solidFill>
                <a:effectLst/>
                <a:uFillTx/>
                <a:latin typeface="Times New Roman" panose="02020603050405020304" pitchFamily="18" charset="0"/>
                <a:cs typeface="Times New Roman" panose="02020603050405020304" pitchFamily="18" charset="0"/>
              </a:rPr>
              <a:t>Hình minh họa nhóm sinh viên cùng trao đổi và hoàn thiện đề tài.</a:t>
            </a:r>
            <a:endParaRPr lang="en-US" sz="939"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26" name="Text 8"/>
          <p:cNvSpPr/>
          <p:nvPr/>
        </p:nvSpPr>
        <p:spPr>
          <a:xfrm>
            <a:off x="5669280" y="1143000"/>
            <a:ext cx="5815080" cy="118836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Thông</a:t>
            </a:r>
            <a:r>
              <a:rPr lang="en-US" sz="160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tin </a:t>
            </a:r>
            <a:r>
              <a:rPr lang="en-US" sz="16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học</a:t>
            </a:r>
            <a:r>
              <a:rPr lang="en-US" sz="160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phần</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đề</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tài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Hệ</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thống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online</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Môn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Lập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trình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hướng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đối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tượng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Giảng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hướng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dẫn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i="0" dirty="0" err="1">
                <a:solidFill>
                  <a:srgbClr val="333333"/>
                </a:solidFill>
                <a:effectLst/>
                <a:latin typeface="Roboto" panose="020B0604020202020204" pitchFamily="2" charset="0"/>
              </a:rPr>
              <a:t>Nguyễn</a:t>
            </a:r>
            <a:r>
              <a:rPr lang="en-US" sz="1400" b="0" i="0" dirty="0">
                <a:solidFill>
                  <a:srgbClr val="333333"/>
                </a:solidFill>
                <a:effectLst/>
                <a:latin typeface="Roboto" panose="020B0604020202020204" pitchFamily="2" charset="0"/>
              </a:rPr>
              <a:t> </a:t>
            </a:r>
            <a:r>
              <a:rPr lang="en-US" sz="1400" b="0" i="0" dirty="0" err="1">
                <a:solidFill>
                  <a:srgbClr val="333333"/>
                </a:solidFill>
                <a:effectLst/>
                <a:latin typeface="Roboto" panose="020B0604020202020204" pitchFamily="2" charset="0"/>
              </a:rPr>
              <a:t>Thị</a:t>
            </a:r>
            <a:r>
              <a:rPr lang="en-US" sz="1400" b="0" i="0" dirty="0">
                <a:solidFill>
                  <a:srgbClr val="333333"/>
                </a:solidFill>
                <a:effectLst/>
                <a:latin typeface="Roboto" panose="020B0604020202020204" pitchFamily="2" charset="0"/>
              </a:rPr>
              <a:t> </a:t>
            </a:r>
            <a:r>
              <a:rPr lang="en-US" sz="1400" b="0" i="0" dirty="0" err="1">
                <a:solidFill>
                  <a:srgbClr val="333333"/>
                </a:solidFill>
                <a:effectLst/>
                <a:latin typeface="Roboto" panose="020B0604020202020204" pitchFamily="2" charset="0"/>
              </a:rPr>
              <a:t>Tố</a:t>
            </a:r>
            <a:r>
              <a:rPr lang="en-US" sz="1400" b="0" i="0" dirty="0">
                <a:solidFill>
                  <a:srgbClr val="333333"/>
                </a:solidFill>
                <a:effectLst/>
                <a:latin typeface="Roboto" panose="020B0604020202020204" pitchFamily="2" charset="0"/>
              </a:rPr>
              <a:t> </a:t>
            </a:r>
            <a:r>
              <a:rPr lang="en-US" sz="1400" b="0" i="0" dirty="0" err="1">
                <a:solidFill>
                  <a:srgbClr val="333333"/>
                </a:solidFill>
                <a:effectLst/>
                <a:latin typeface="Roboto" panose="020B0604020202020204" pitchFamily="2" charset="0"/>
              </a:rPr>
              <a:t>Uyên</a:t>
            </a:r>
            <a:r>
              <a:rPr lang="en-US" sz="1400" b="0" i="0" dirty="0">
                <a:solidFill>
                  <a:srgbClr val="333333"/>
                </a:solidFill>
                <a:effectLst/>
                <a:latin typeface="Roboto" panose="020B0604020202020204" pitchFamily="2" charset="0"/>
              </a:rPr>
              <a:t> </a:t>
            </a:r>
            <a:endParaRPr lang="vi-VN" sz="1400" b="0" i="0" dirty="0">
              <a:solidFill>
                <a:srgbClr val="333333"/>
              </a:solidFill>
              <a:effectLst/>
              <a:latin typeface="Roboto" panose="020B0604020202020204" pitchFamily="2"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Ngôn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môi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trường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C++17, STL,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chương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trình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console</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7" name="Text 9"/>
          <p:cNvSpPr/>
          <p:nvPr/>
        </p:nvSpPr>
        <p:spPr>
          <a:xfrm>
            <a:off x="5687640" y="2543174"/>
            <a:ext cx="5815080" cy="2165985"/>
          </a:xfrm>
          <a:prstGeom prst="rect">
            <a:avLst/>
          </a:prstGeom>
          <a:solidFill>
            <a:srgbClr val="EDF9F8"/>
          </a:solidFill>
          <a:ln w="12700">
            <a:solidFill>
              <a:srgbClr val="BFE7E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fontScale="92500" lnSpcReduction="10000"/>
          </a:bodyPr>
          <a:lstStyle/>
          <a:p>
            <a:pPr defTabSz="914400">
              <a:lnSpc>
                <a:spcPct val="100000"/>
              </a:lnSpc>
              <a:tabLst>
                <a:tab pos="0" algn="l"/>
              </a:tabLst>
            </a:pPr>
            <a:r>
              <a:rPr lang="en-US" sz="155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Thành</a:t>
            </a:r>
            <a:r>
              <a:rPr lang="en-US" sz="155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viên</a:t>
            </a:r>
            <a:r>
              <a:rPr lang="en-US" sz="155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và</a:t>
            </a:r>
            <a:r>
              <a:rPr lang="en-US" sz="155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phân</a:t>
            </a:r>
            <a:r>
              <a:rPr lang="en-US" sz="155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công</a:t>
            </a:r>
            <a:r>
              <a:rPr lang="en-US" sz="155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endParaRPr lang="en-US" sz="155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Bùi</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Văn</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Hoàng</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Giang</a:t>
            </a:r>
            <a:r>
              <a:rPr lang="en-US" sz="1500" b="0" i="0" dirty="0">
                <a:solidFill>
                  <a:srgbClr val="081B3A"/>
                </a:solidFill>
                <a:effectLst/>
                <a:latin typeface="Times New Roman" panose="02020603050405020304" pitchFamily="18" charset="0"/>
                <a:cs typeface="Times New Roman" panose="02020603050405020304" pitchFamily="18" charset="0"/>
              </a:rPr>
              <a:t> - 23A1201D0088</a:t>
            </a: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P</a:t>
            </a:r>
            <a:r>
              <a:rPr lang="vi-VN" sz="1500" dirty="0">
                <a:latin typeface="Times New Roman" panose="02020603050405020304" pitchFamily="18" charset="0"/>
                <a:cs typeface="Times New Roman" panose="02020603050405020304" pitchFamily="18" charset="0"/>
              </a:rPr>
              <a:t>hân tích yêu cầu đề tài, xây dựng nội dung thuyết trình</a:t>
            </a:r>
            <a:endParaRPr lang="en-US" sz="15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Phùng</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Xuân</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Hải</a:t>
            </a:r>
            <a:r>
              <a:rPr lang="en-US" sz="1500" b="0" i="0" dirty="0">
                <a:solidFill>
                  <a:srgbClr val="081B3A"/>
                </a:solidFill>
                <a:effectLst/>
                <a:latin typeface="Times New Roman" panose="02020603050405020304" pitchFamily="18" charset="0"/>
                <a:cs typeface="Times New Roman" panose="02020603050405020304" pitchFamily="18" charset="0"/>
              </a:rPr>
              <a:t> - 23A1201D0099</a:t>
            </a:r>
            <a:r>
              <a:rPr lang="vi-VN" sz="1500" b="0" i="0" dirty="0">
                <a:solidFill>
                  <a:srgbClr val="081B3A"/>
                </a:solidFill>
                <a:effectLst/>
                <a:latin typeface="Times New Roman" panose="02020603050405020304" pitchFamily="18" charset="0"/>
                <a:cs typeface="Times New Roman" panose="02020603050405020304" pitchFamily="18" charset="0"/>
              </a:rPr>
              <a:t> </a:t>
            </a: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vi-VN" sz="1500" dirty="0">
                <a:latin typeface="Times New Roman" panose="02020603050405020304" pitchFamily="18" charset="0"/>
                <a:cs typeface="Times New Roman" panose="02020603050405020304" pitchFamily="18" charset="0"/>
              </a:rPr>
              <a:t>Thiết kế lớp, sơ đồ lớp UML, xác định mối quan hệ kế thừa và liên kết giữa các đối tượng</a:t>
            </a:r>
            <a:endParaRPr lang="en-US" sz="15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Đinh</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Việt</a:t>
            </a:r>
            <a:r>
              <a:rPr lang="en-US" sz="1500" b="0" i="0" dirty="0">
                <a:solidFill>
                  <a:srgbClr val="081B3A"/>
                </a:solidFill>
                <a:effectLst/>
                <a:latin typeface="Times New Roman" panose="02020603050405020304" pitchFamily="18" charset="0"/>
                <a:cs typeface="Times New Roman" panose="02020603050405020304" pitchFamily="18" charset="0"/>
              </a:rPr>
              <a:t> Anh - 23A1201D0010</a:t>
            </a: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500" dirty="0" err="1">
                <a:latin typeface="Times New Roman" panose="02020603050405020304" pitchFamily="18" charset="0"/>
                <a:cs typeface="Times New Roman" panose="02020603050405020304" pitchFamily="18" charset="0"/>
              </a:rPr>
              <a:t>Lập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trình</a:t>
            </a:r>
            <a:r>
              <a:rPr lang="en-US" sz="1500" dirty="0">
                <a:latin typeface="Times New Roman" panose="02020603050405020304" pitchFamily="18" charset="0"/>
                <a:cs typeface="Times New Roman" panose="02020603050405020304" pitchFamily="18" charset="0"/>
              </a:rPr>
              <a:t> C++ </a:t>
            </a:r>
            <a:r>
              <a:rPr lang="en-US" sz="1500" dirty="0" err="1">
                <a:latin typeface="Times New Roman" panose="02020603050405020304" pitchFamily="18" charset="0"/>
                <a:cs typeface="Times New Roman" panose="02020603050405020304" pitchFamily="18" charset="0"/>
              </a:rPr>
              <a:t>các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chức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thêm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khóa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học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hiển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thị</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danh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sách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khóa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học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tìm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khóa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học</a:t>
            </a:r>
            <a:endParaRPr lang="vi-VN" sz="1500" dirty="0">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Nguyễn</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Đinh</a:t>
            </a:r>
            <a:r>
              <a:rPr lang="en-US" sz="1500" b="0" i="0" dirty="0">
                <a:solidFill>
                  <a:srgbClr val="081B3A"/>
                </a:solidFill>
                <a:effectLst/>
                <a:latin typeface="Times New Roman" panose="02020603050405020304" pitchFamily="18" charset="0"/>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Trọng</a:t>
            </a:r>
            <a:r>
              <a:rPr lang="en-US" sz="1500" b="0" i="0" dirty="0">
                <a:solidFill>
                  <a:srgbClr val="081B3A"/>
                </a:solidFill>
                <a:effectLst/>
                <a:latin typeface="Times New Roman" panose="02020603050405020304" pitchFamily="18" charset="0"/>
                <a:cs typeface="Times New Roman" panose="02020603050405020304" pitchFamily="18" charset="0"/>
              </a:rPr>
              <a:t> - 23A1201D0258</a:t>
            </a:r>
            <a:r>
              <a:rPr lang="vi-VN" sz="1500" b="0" i="0" dirty="0">
                <a:solidFill>
                  <a:srgbClr val="081B3A"/>
                </a:solidFill>
                <a:effectLst/>
                <a:latin typeface="Times New Roman" panose="02020603050405020304" pitchFamily="18" charset="0"/>
                <a:cs typeface="Times New Roman" panose="02020603050405020304" pitchFamily="18" charset="0"/>
              </a:rPr>
              <a:t> </a:t>
            </a: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Lập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trình</a:t>
            </a:r>
            <a:r>
              <a:rPr lang="en-US" sz="1500" dirty="0">
                <a:latin typeface="Times New Roman" panose="02020603050405020304" pitchFamily="18" charset="0"/>
                <a:cs typeface="Times New Roman" panose="02020603050405020304" pitchFamily="18" charset="0"/>
              </a:rPr>
              <a:t> C++ </a:t>
            </a:r>
            <a:r>
              <a:rPr lang="en-US" sz="1500" dirty="0" err="1">
                <a:latin typeface="Times New Roman" panose="02020603050405020304" pitchFamily="18" charset="0"/>
                <a:cs typeface="Times New Roman" panose="02020603050405020304" pitchFamily="18" charset="0"/>
              </a:rPr>
              <a:t>các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chức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ký</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khóa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học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hủy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ký</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quản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lý</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thông</a:t>
            </a:r>
            <a:r>
              <a:rPr lang="en-US" sz="1500" dirty="0">
                <a:latin typeface="Times New Roman" panose="02020603050405020304" pitchFamily="18" charset="0"/>
                <a:cs typeface="Times New Roman" panose="02020603050405020304" pitchFamily="18" charset="0"/>
              </a:rPr>
              <a:t> tin </a:t>
            </a:r>
            <a:r>
              <a:rPr lang="en-US" sz="1500" dirty="0" err="1">
                <a:latin typeface="Times New Roman" panose="02020603050405020304" pitchFamily="18" charset="0"/>
                <a:cs typeface="Times New Roman" panose="02020603050405020304" pitchFamily="18" charset="0"/>
              </a:rPr>
              <a:t>học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viên</a:t>
            </a:r>
            <a:endParaRPr lang="vi-VN" sz="1500" dirty="0">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500" b="0" i="0" dirty="0" err="1">
                <a:solidFill>
                  <a:srgbClr val="081B3A"/>
                </a:solidFill>
                <a:effectLst/>
                <a:latin typeface="Times New Roman" panose="02020603050405020304" pitchFamily="18" charset="0"/>
                <a:cs typeface="Times New Roman" panose="02020603050405020304" pitchFamily="18" charset="0"/>
              </a:rPr>
              <a:t>Phạm</a:t>
            </a:r>
            <a:r>
              <a:rPr lang="en-US" sz="1500" b="0" i="0" dirty="0">
                <a:solidFill>
                  <a:srgbClr val="081B3A"/>
                </a:solidFill>
                <a:effectLst/>
                <a:latin typeface="Times New Roman" panose="02020603050405020304" pitchFamily="18" charset="0"/>
                <a:cs typeface="Times New Roman" panose="02020603050405020304" pitchFamily="18" charset="0"/>
              </a:rPr>
              <a:t> Gia </a:t>
            </a:r>
            <a:r>
              <a:rPr lang="en-US" sz="1500" b="0" i="0" dirty="0" err="1">
                <a:solidFill>
                  <a:srgbClr val="081B3A"/>
                </a:solidFill>
                <a:effectLst/>
                <a:latin typeface="Times New Roman" panose="02020603050405020304" pitchFamily="18" charset="0"/>
                <a:cs typeface="Times New Roman" panose="02020603050405020304" pitchFamily="18" charset="0"/>
              </a:rPr>
              <a:t>Khiêm</a:t>
            </a:r>
            <a:r>
              <a:rPr lang="en-US" sz="1500" b="0" i="0" dirty="0">
                <a:solidFill>
                  <a:srgbClr val="081B3A"/>
                </a:solidFill>
                <a:effectLst/>
                <a:latin typeface="Times New Roman" panose="02020603050405020304" pitchFamily="18" charset="0"/>
                <a:cs typeface="Times New Roman" panose="02020603050405020304" pitchFamily="18" charset="0"/>
              </a:rPr>
              <a:t> - 23A1201D0147</a:t>
            </a:r>
            <a:r>
              <a:rPr lang="vi-VN" sz="1500" b="0" i="0" dirty="0">
                <a:solidFill>
                  <a:srgbClr val="081B3A"/>
                </a:solidFill>
                <a:effectLst/>
                <a:latin typeface="Times New Roman" panose="02020603050405020304" pitchFamily="18" charset="0"/>
                <a:cs typeface="Times New Roman" panose="02020603050405020304" pitchFamily="18" charset="0"/>
              </a:rPr>
              <a:t> </a:t>
            </a:r>
            <a:r>
              <a:rPr lang="en-US"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r>
              <a:rPr lang="vi-VN" sz="15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vi-VN" sz="1500" dirty="0">
                <a:latin typeface="Times New Roman" panose="02020603050405020304" pitchFamily="18" charset="0"/>
                <a:cs typeface="Times New Roman" panose="02020603050405020304" pitchFamily="18" charset="0"/>
              </a:rPr>
              <a:t>Trưởng nhóm, </a:t>
            </a:r>
            <a:r>
              <a:rPr lang="en-US" sz="1500" dirty="0">
                <a:latin typeface="Times New Roman" panose="02020603050405020304" pitchFamily="18" charset="0"/>
                <a:cs typeface="Times New Roman" panose="02020603050405020304" pitchFamily="18" charset="0"/>
              </a:rPr>
              <a:t>k</a:t>
            </a:r>
            <a:r>
              <a:rPr lang="vi-VN" sz="1500" dirty="0">
                <a:latin typeface="Times New Roman" panose="02020603050405020304" pitchFamily="18" charset="0"/>
                <a:cs typeface="Times New Roman" panose="02020603050405020304" pitchFamily="18" charset="0"/>
              </a:rPr>
              <a:t>iểm thử chương trình, thiết kế sơ đồ khối, tổng hợp báo cáo và hoàn thiện slide</a:t>
            </a:r>
            <a:endParaRPr lang="en-US" sz="15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8" name="Text 10"/>
          <p:cNvSpPr/>
          <p:nvPr/>
        </p:nvSpPr>
        <p:spPr>
          <a:xfrm>
            <a:off x="5687640" y="4892400"/>
            <a:ext cx="5815080" cy="1416960"/>
          </a:xfrm>
          <a:prstGeom prst="rect">
            <a:avLst/>
          </a:prstGeom>
          <a:solidFill>
            <a:srgbClr val="FFF5EA"/>
          </a:solidFill>
          <a:ln w="12700">
            <a:solidFill>
              <a:srgbClr val="F4D8B7"/>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55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Hướng</a:t>
            </a:r>
            <a:r>
              <a:rPr lang="en-US" sz="155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trình</a:t>
            </a:r>
            <a:r>
              <a:rPr lang="en-US" sz="155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bày</a:t>
            </a:r>
            <a:r>
              <a:rPr lang="en-US" sz="155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của</a:t>
            </a:r>
            <a:r>
              <a:rPr lang="en-US" sz="155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slide</a:t>
            </a:r>
            <a:endParaRPr lang="en-US" sz="155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1.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Bối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cảnh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do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chọn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đề</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tài</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2.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Phân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tích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bài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toán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yêu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cầu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nghiệp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vụ</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3.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Cấu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trúc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nguồn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thiết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kế</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OOP, UML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sơ</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đồ</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khối</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4.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Kịch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demo,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đánh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giá</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hướng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mở</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rộng</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9"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30"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31"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32"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33"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3</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34"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Bối cảnh và lý do chọn đề tài</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35"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36" name="Text 7"/>
          <p:cNvSpPr/>
          <p:nvPr/>
        </p:nvSpPr>
        <p:spPr>
          <a:xfrm>
            <a:off x="713160" y="1097280"/>
            <a:ext cx="5531760" cy="288000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700" b="1" u="none" strike="noStrike">
                <a:solidFill>
                  <a:srgbClr val="16304A"/>
                </a:solidFill>
                <a:effectLst/>
                <a:uFillTx/>
                <a:latin typeface="Times New Roman" panose="02020603050405020304" pitchFamily="18" charset="0"/>
                <a:ea typeface="Calibri"/>
                <a:cs typeface="Times New Roman" panose="02020603050405020304" pitchFamily="18" charset="0"/>
              </a:rPr>
              <a:t>Vì sao đề tài này có ý nghĩa?</a:t>
            </a:r>
            <a:endParaRPr lang="en-US" sz="170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70" b="0" u="none" strike="noStrike">
                <a:solidFill>
                  <a:srgbClr val="16304A"/>
                </a:solidFill>
                <a:effectLst/>
                <a:uFillTx/>
                <a:latin typeface="Times New Roman" panose="02020603050405020304" pitchFamily="18" charset="0"/>
                <a:ea typeface="Calibri"/>
                <a:cs typeface="Times New Roman" panose="02020603050405020304" pitchFamily="18" charset="0"/>
              </a:rPr>
              <a:t>• Học trực tuyến ngày càng phổ biến, người học cần một quy trình đăng ký đơn giản, rõ ràng và chủ động.</a:t>
            </a:r>
            <a:endParaRPr lang="en-US" sz="127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70" b="0" u="none" strike="noStrike">
                <a:solidFill>
                  <a:srgbClr val="16304A"/>
                </a:solidFill>
                <a:effectLst/>
                <a:uFillTx/>
                <a:latin typeface="Times New Roman" panose="02020603050405020304" pitchFamily="18" charset="0"/>
                <a:ea typeface="Calibri"/>
                <a:cs typeface="Times New Roman" panose="02020603050405020304" pitchFamily="18" charset="0"/>
              </a:rPr>
              <a:t>• Khi số lượng khóa học tăng lên, việc quản lý thủ công dễ dẫn đến nhầm thông tin, khó theo dõi học phí và khó tổng hợp danh sách đăng ký.</a:t>
            </a:r>
            <a:endParaRPr lang="en-US" sz="127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70" b="0" u="none" strike="noStrike">
                <a:solidFill>
                  <a:srgbClr val="16304A"/>
                </a:solidFill>
                <a:effectLst/>
                <a:uFillTx/>
                <a:latin typeface="Times New Roman" panose="02020603050405020304" pitchFamily="18" charset="0"/>
                <a:ea typeface="Calibri"/>
                <a:cs typeface="Times New Roman" panose="02020603050405020304" pitchFamily="18" charset="0"/>
              </a:rPr>
              <a:t>• Bài toán đăng ký khóa học online có đủ thực tế để mô phỏng quy trình thật nhưng vẫn vừa sức với phạm vi của một bài tập lớn OOP.</a:t>
            </a:r>
            <a:endParaRPr lang="en-US" sz="127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70" b="0" u="none" strike="noStrike">
                <a:solidFill>
                  <a:srgbClr val="16304A"/>
                </a:solidFill>
                <a:effectLst/>
                <a:uFillTx/>
                <a:latin typeface="Times New Roman" panose="02020603050405020304" pitchFamily="18" charset="0"/>
                <a:ea typeface="Calibri"/>
                <a:cs typeface="Times New Roman" panose="02020603050405020304" pitchFamily="18" charset="0"/>
              </a:rPr>
              <a:t>• Đề tài cho phép nhóm áp dụng đồng thời class, constructor, static member, vector, kiểm tra dữ liệu và luồng menu.</a:t>
            </a:r>
            <a:endParaRPr lang="en-US" sz="127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37" name="Text 8"/>
          <p:cNvSpPr/>
          <p:nvPr/>
        </p:nvSpPr>
        <p:spPr>
          <a:xfrm>
            <a:off x="713160" y="4160520"/>
            <a:ext cx="5531760" cy="159984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550" b="1" u="none" strike="noStrike">
                <a:solidFill>
                  <a:srgbClr val="1E5AA8"/>
                </a:solidFill>
                <a:effectLst/>
                <a:uFillTx/>
                <a:latin typeface="Times New Roman" panose="02020603050405020304" pitchFamily="18" charset="0"/>
                <a:ea typeface="Calibri"/>
                <a:cs typeface="Times New Roman" panose="02020603050405020304" pitchFamily="18" charset="0"/>
              </a:rPr>
              <a:t>Liên hệ với thực tế giáo dục số</a:t>
            </a:r>
            <a:endParaRPr lang="en-US" sz="155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a:solidFill>
                  <a:srgbClr val="16304A"/>
                </a:solidFill>
                <a:effectLst/>
                <a:uFillTx/>
                <a:latin typeface="Times New Roman" panose="02020603050405020304" pitchFamily="18" charset="0"/>
                <a:ea typeface="Calibri"/>
                <a:cs typeface="Times New Roman" panose="02020603050405020304" pitchFamily="18" charset="0"/>
              </a:rPr>
              <a:t>UNESCO nhấn mạnh học tập số có thể mở rộng cơ hội tiếp cận và nâng cao chất lượng học tập nếu được triển khai đúng cách. Nhiều hệ thống self-service của trường đại học cũng cho phép sinh viên tự xem môn học, đăng ký và theo dõi các thông tin học vụ ngay trên nền tảng số.</a:t>
            </a:r>
            <a:endParaRPr lang="en-US" sz="1240" b="0" u="none" strike="noStrike">
              <a:solidFill>
                <a:srgbClr val="000000"/>
              </a:solidFill>
              <a:effectLst/>
              <a:uFillTx/>
              <a:latin typeface="Times New Roman" panose="02020603050405020304" pitchFamily="18" charset="0"/>
              <a:cs typeface="Times New Roman" panose="02020603050405020304" pitchFamily="18" charset="0"/>
            </a:endParaRPr>
          </a:p>
        </p:txBody>
      </p:sp>
      <p:pic>
        <p:nvPicPr>
          <p:cNvPr id="38" name="Image 0" descr="/mnt/data/oop_ppt_work/assets/online_learning_pexels.jpg"/>
          <p:cNvPicPr/>
          <p:nvPr/>
        </p:nvPicPr>
        <p:blipFill>
          <a:blip r:embed="rId3"/>
          <a:srcRect l="14323" r="14323"/>
          <a:stretch/>
        </p:blipFill>
        <p:spPr>
          <a:xfrm>
            <a:off x="6446520" y="1097280"/>
            <a:ext cx="5010480" cy="4681440"/>
          </a:xfrm>
          <a:prstGeom prst="rect">
            <a:avLst/>
          </a:prstGeom>
          <a:noFill/>
          <a:ln w="0">
            <a:noFill/>
          </a:ln>
        </p:spPr>
      </p:pic>
      <p:sp>
        <p:nvSpPr>
          <p:cNvPr id="39" name="Text 9"/>
          <p:cNvSpPr/>
          <p:nvPr/>
        </p:nvSpPr>
        <p:spPr>
          <a:xfrm>
            <a:off x="6446520" y="5852160"/>
            <a:ext cx="5010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i="1" u="none" strike="noStrike">
                <a:solidFill>
                  <a:srgbClr val="6B7A88"/>
                </a:solidFill>
                <a:effectLst/>
                <a:uFillTx/>
                <a:latin typeface="Times New Roman" panose="02020603050405020304" pitchFamily="18" charset="0"/>
                <a:cs typeface="Times New Roman" panose="02020603050405020304" pitchFamily="18" charset="0"/>
              </a:rPr>
              <a:t>Minh họa một buổi học trực tuyến, đúng bối cảnh của đề tài.</a:t>
            </a:r>
            <a:endParaRPr lang="en-US" sz="939" b="0" u="none" strike="noStrike">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40"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41"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42"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43"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4"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4</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45"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Mục tiêu và phạm vi của hệ thống</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46"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7" name="Text 7"/>
          <p:cNvSpPr/>
          <p:nvPr/>
        </p:nvSpPr>
        <p:spPr>
          <a:xfrm>
            <a:off x="713160" y="1115640"/>
            <a:ext cx="5531760" cy="1663920"/>
          </a:xfrm>
          <a:prstGeom prst="rect">
            <a:avLst/>
          </a:prstGeom>
          <a:solidFill>
            <a:srgbClr val="EDF9F8"/>
          </a:solidFill>
          <a:ln w="12700">
            <a:solidFill>
              <a:srgbClr val="BFE7E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Mục</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tiêu</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nghiệp</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vụ</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của</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chương</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trình</a:t>
            </a:r>
            <a:endParaRPr lang="en-US" sz="16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Quản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đầu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Quản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giảng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Cho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phép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chọn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chọn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in ra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hoàn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chỉnh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8" name="Text 8"/>
          <p:cNvSpPr/>
          <p:nvPr/>
        </p:nvSpPr>
        <p:spPr>
          <a:xfrm>
            <a:off x="713160" y="3200400"/>
            <a:ext cx="5531760" cy="1590675"/>
          </a:xfrm>
          <a:prstGeom prst="rect">
            <a:avLst/>
          </a:prstGeom>
          <a:solidFill>
            <a:srgbClr val="FFF5EA"/>
          </a:solidFill>
          <a:ln w="12700">
            <a:solidFill>
              <a:srgbClr val="F4D8B7"/>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2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Phạm</a:t>
            </a:r>
            <a:r>
              <a:rPr lang="en-US" sz="162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vi </a:t>
            </a:r>
            <a:r>
              <a:rPr lang="en-US" sz="162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hiện</a:t>
            </a:r>
            <a:r>
              <a:rPr lang="en-US" sz="162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tại</a:t>
            </a:r>
            <a:r>
              <a:rPr lang="en-US" sz="162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của</a:t>
            </a:r>
            <a:r>
              <a:rPr lang="en-US" sz="162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bài</a:t>
            </a:r>
            <a:r>
              <a:rPr lang="en-US" sz="162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tập</a:t>
            </a:r>
            <a:r>
              <a:rPr lang="en-US" sz="162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lớn</a:t>
            </a:r>
            <a:endParaRPr lang="en-US" sz="16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Chạy</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giao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diện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console,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giao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diện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đồ</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hoặc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web.</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trong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bộ</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nhớ</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bằng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vector,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file hay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cơ</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sở</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toán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online,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lịch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tài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khoản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nhập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hoặc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phân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quyền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Mục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tiêu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hiện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đúng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tư</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duy</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OOP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logic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nghiệp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vụ</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lõi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9" name="Text 9"/>
          <p:cNvSpPr/>
          <p:nvPr/>
        </p:nvSpPr>
        <p:spPr>
          <a:xfrm>
            <a:off x="713160" y="5248800"/>
            <a:ext cx="5531760" cy="639720"/>
          </a:xfrm>
          <a:prstGeom prst="rect">
            <a:avLst/>
          </a:prstGeom>
          <a:solidFill>
            <a:srgbClr val="F1EFFF"/>
          </a:solidFill>
          <a:ln w="12700">
            <a:solidFill>
              <a:srgbClr val="D7D0FF"/>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lnSpcReduction="10000"/>
          </a:bodyPr>
          <a:lstStyle/>
          <a:p>
            <a:pPr defTabSz="914400">
              <a:lnSpc>
                <a:spcPct val="100000"/>
              </a:lnSpc>
              <a:tabLst>
                <a:tab pos="0" algn="l"/>
              </a:tabLst>
            </a:pPr>
            <a:r>
              <a:rPr lang="en-US" sz="144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Giá</a:t>
            </a:r>
            <a:r>
              <a:rPr lang="en-US" sz="144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 </a:t>
            </a:r>
            <a:r>
              <a:rPr lang="en-US" sz="144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trị</a:t>
            </a:r>
            <a:r>
              <a:rPr lang="en-US" sz="144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 </a:t>
            </a:r>
            <a:r>
              <a:rPr lang="en-US" sz="144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học</a:t>
            </a:r>
            <a:r>
              <a:rPr lang="en-US" sz="144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 </a:t>
            </a:r>
            <a:r>
              <a:rPr lang="en-US" sz="144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thuật</a:t>
            </a:r>
            <a:r>
              <a:rPr lang="en-US" sz="144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 </a:t>
            </a:r>
            <a:r>
              <a:rPr lang="en-US" sz="144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của</a:t>
            </a:r>
            <a:r>
              <a:rPr lang="en-US" sz="144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 </a:t>
            </a:r>
            <a:r>
              <a:rPr lang="en-US" sz="144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đề</a:t>
            </a:r>
            <a:r>
              <a:rPr lang="en-US" sz="144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 </a:t>
            </a:r>
            <a:r>
              <a:rPr lang="en-US" sz="144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tài</a:t>
            </a:r>
            <a:endParaRPr lang="en-US" sz="144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Bài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toán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nhỏ</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nhưng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hợp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được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constructor, static member, composition, vector,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luồng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khiển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menu.</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50" name="Image 0" descr="/mnt/data/oop_ppt_work/assets/online_student_unsplash.jpg"/>
          <p:cNvPicPr/>
          <p:nvPr/>
        </p:nvPicPr>
        <p:blipFill>
          <a:blip r:embed="rId3"/>
          <a:srcRect l="15858" r="15858"/>
          <a:stretch/>
        </p:blipFill>
        <p:spPr>
          <a:xfrm>
            <a:off x="6446520" y="1115640"/>
            <a:ext cx="5010480" cy="4891680"/>
          </a:xfrm>
          <a:prstGeom prst="rect">
            <a:avLst/>
          </a:prstGeom>
          <a:noFill/>
          <a:ln w="0">
            <a:noFill/>
          </a:ln>
        </p:spPr>
      </p:pic>
      <p:sp>
        <p:nvSpPr>
          <p:cNvPr id="51" name="Text 10"/>
          <p:cNvSpPr/>
          <p:nvPr/>
        </p:nvSpPr>
        <p:spPr>
          <a:xfrm>
            <a:off x="6446520" y="6080760"/>
            <a:ext cx="5010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i="1" u="none" strike="noStrike">
                <a:solidFill>
                  <a:srgbClr val="6B7A88"/>
                </a:solidFill>
                <a:effectLst/>
                <a:uFillTx/>
                <a:latin typeface="Times New Roman" panose="02020603050405020304" pitchFamily="18" charset="0"/>
                <a:cs typeface="Times New Roman" panose="02020603050405020304" pitchFamily="18" charset="0"/>
              </a:rPr>
              <a:t>Người học thao tác trên máy tính là hình ảnh gần với bài toán self-service.</a:t>
            </a:r>
            <a:endParaRPr lang="en-US" sz="939" b="0" u="none" strike="noStrike">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52"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53"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54"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55"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6"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5</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57"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Phân tích bài toán và yêu cầu nghiệp vụ</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58"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9" name="Text 7"/>
          <p:cNvSpPr/>
          <p:nvPr/>
        </p:nvSpPr>
        <p:spPr>
          <a:xfrm>
            <a:off x="713160" y="1170360"/>
            <a:ext cx="3611520" cy="306288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1.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Đầu</a:t>
            </a: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vào</a:t>
            </a: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và</a:t>
            </a: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tác</a:t>
            </a: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nhân</a:t>
            </a:r>
            <a:endParaRPr lang="en-US" sz="16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Tác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nhân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người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thao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tác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trực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tiếp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qua menu console.</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đầu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gồm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giảng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Yêu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cầu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cơ</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nhập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phải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hợp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lệ</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trước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hệ</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thống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60" name="Text 8"/>
          <p:cNvSpPr/>
          <p:nvPr/>
        </p:nvSpPr>
        <p:spPr>
          <a:xfrm>
            <a:off x="4535280" y="1170360"/>
            <a:ext cx="3611520" cy="306288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2.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Xử</a:t>
            </a: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lý</a:t>
            </a: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trung</a:t>
            </a:r>
            <a:r>
              <a:rPr lang="en-US" sz="16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tâm</a:t>
            </a:r>
            <a:endParaRPr lang="en-US" sz="16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Các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thao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tác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lõi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của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hệ</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thống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Sinh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tự</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động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Tìm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theo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đối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tượng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một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Cộng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dồn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61" name="Text 9"/>
          <p:cNvSpPr/>
          <p:nvPr/>
        </p:nvSpPr>
        <p:spPr>
          <a:xfrm>
            <a:off x="8357760" y="1170360"/>
            <a:ext cx="3126960" cy="3062880"/>
          </a:xfrm>
          <a:prstGeom prst="rect">
            <a:avLst/>
          </a:prstGeom>
          <a:solidFill>
            <a:srgbClr val="EDF9F8"/>
          </a:solidFill>
          <a:ln w="12700">
            <a:solidFill>
              <a:srgbClr val="BFE7E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3.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Đầu</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ra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và</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ràng</a:t>
            </a:r>
            <a:r>
              <a:rPr lang="en-US" sz="162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buộc</a:t>
            </a:r>
            <a:endParaRPr lang="en-US" sz="16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Đầu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ra:</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chi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tiết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Ràng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buộc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Chỉ</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Không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rỗng</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lỗi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không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tìm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thấy</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62" name="Text 10"/>
          <p:cNvSpPr/>
          <p:nvPr/>
        </p:nvSpPr>
        <p:spPr>
          <a:xfrm>
            <a:off x="713160" y="4526280"/>
            <a:ext cx="10771200" cy="1279800"/>
          </a:xfrm>
          <a:prstGeom prst="rect">
            <a:avLst/>
          </a:prstGeom>
          <a:solidFill>
            <a:srgbClr val="F4F7FB"/>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58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Các</a:t>
            </a:r>
            <a:r>
              <a:rPr lang="en-US" sz="158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8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chức</a:t>
            </a:r>
            <a:r>
              <a:rPr lang="en-US" sz="158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8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năng</a:t>
            </a:r>
            <a:r>
              <a:rPr lang="en-US" sz="158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menu </a:t>
            </a:r>
            <a:r>
              <a:rPr lang="en-US" sz="158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đúng</a:t>
            </a:r>
            <a:r>
              <a:rPr lang="en-US" sz="158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8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theo</a:t>
            </a:r>
            <a:r>
              <a:rPr lang="en-US" sz="158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8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mã</a:t>
            </a:r>
            <a:r>
              <a:rPr lang="en-US" sz="158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8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nguồn</a:t>
            </a:r>
            <a:endParaRPr lang="en-US" sz="158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1.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2.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Hiển</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thị</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3.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4.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Hiển</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thị</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5.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6.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Xuất</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3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0. </a:t>
            </a:r>
            <a:r>
              <a:rPr lang="en-US" sz="135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Thoát</a:t>
            </a:r>
            <a:endParaRPr lang="en-US" sz="135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63"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64"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65"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66"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67"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6</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68"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Cấu trúc mã nguồn hiện tại</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69"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0" name="Text 7"/>
          <p:cNvSpPr/>
          <p:nvPr/>
        </p:nvSpPr>
        <p:spPr>
          <a:xfrm>
            <a:off x="713160" y="1115640"/>
            <a:ext cx="4663080" cy="676440"/>
          </a:xfrm>
          <a:prstGeom prst="rect">
            <a:avLst/>
          </a:prstGeom>
          <a:solidFill>
            <a:srgbClr val="F4F7FB"/>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55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Tổng</a:t>
            </a:r>
            <a:r>
              <a:rPr lang="en-US" sz="155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5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quan</a:t>
            </a:r>
            <a:endParaRPr lang="en-US" sz="155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nguồn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được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chia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thành</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5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phần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hỗ</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trợ</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HocVien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KhoaHoc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PhieuDangKy</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phần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xử</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menu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1" name="Text 8"/>
          <p:cNvSpPr/>
          <p:nvPr/>
        </p:nvSpPr>
        <p:spPr>
          <a:xfrm>
            <a:off x="713160" y="1956960"/>
            <a:ext cx="4663080" cy="67644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42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Phần</a:t>
            </a:r>
            <a:r>
              <a:rPr lang="en-US" sz="142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1  |  </a:t>
            </a:r>
            <a:r>
              <a:rPr lang="en-US" sz="142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Dòng</a:t>
            </a:r>
            <a:r>
              <a:rPr lang="en-US" sz="142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12 - 19</a:t>
            </a:r>
            <a:endParaRPr lang="en-US" sz="14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hỗ</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trợ</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clearInput</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emailHopLe</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Đây</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nền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xử</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nhập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2" name="Text 9"/>
          <p:cNvSpPr/>
          <p:nvPr/>
        </p:nvSpPr>
        <p:spPr>
          <a:xfrm>
            <a:off x="713160" y="2715840"/>
            <a:ext cx="4663080" cy="67644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4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Phần</a:t>
            </a:r>
            <a:r>
              <a:rPr lang="en-US" sz="14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2  |  </a:t>
            </a:r>
            <a:r>
              <a:rPr lang="en-US" sz="14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Dòng</a:t>
            </a:r>
            <a:r>
              <a:rPr lang="en-US" sz="14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24 - 81</a:t>
            </a:r>
            <a:endParaRPr lang="en-US" sz="14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HocVien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quản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tên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các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nhập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xuất</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setter / getter.</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3" name="Text 10"/>
          <p:cNvSpPr/>
          <p:nvPr/>
        </p:nvSpPr>
        <p:spPr>
          <a:xfrm>
            <a:off x="713160" y="3474720"/>
            <a:ext cx="4663080" cy="67644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42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Phần</a:t>
            </a:r>
            <a:r>
              <a:rPr lang="en-US" sz="142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3  |  </a:t>
            </a:r>
            <a:r>
              <a:rPr lang="en-US" sz="142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Dòng</a:t>
            </a:r>
            <a:r>
              <a:rPr lang="en-US" sz="142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86 - 159</a:t>
            </a:r>
            <a:endParaRPr lang="en-US" sz="14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KhoaHoc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quản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tên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giảng</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hợp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lệ</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4" name="Text 11"/>
          <p:cNvSpPr/>
          <p:nvPr/>
        </p:nvSpPr>
        <p:spPr>
          <a:xfrm>
            <a:off x="713160" y="4233600"/>
            <a:ext cx="4663080" cy="67644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4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Phần</a:t>
            </a:r>
            <a:r>
              <a:rPr lang="en-US" sz="14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4  |  </a:t>
            </a:r>
            <a:r>
              <a:rPr lang="en-US" sz="142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Dòng</a:t>
            </a:r>
            <a:r>
              <a:rPr lang="en-US" sz="142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164 - 207</a:t>
            </a:r>
            <a:endParaRPr lang="en-US" sz="14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PhieuDangKy</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chứa</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1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tổng</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trạng</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thái</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5" name="Text 12"/>
          <p:cNvSpPr/>
          <p:nvPr/>
        </p:nvSpPr>
        <p:spPr>
          <a:xfrm>
            <a:off x="713160" y="4992480"/>
            <a:ext cx="4663080" cy="67644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42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Phần</a:t>
            </a:r>
            <a:r>
              <a:rPr lang="en-US" sz="142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5  |  </a:t>
            </a:r>
            <a:r>
              <a:rPr lang="en-US" sz="142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Dòng</a:t>
            </a:r>
            <a:r>
              <a:rPr lang="en-US" sz="142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212 - 364</a:t>
            </a:r>
            <a:endParaRPr lang="en-US" sz="14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Các</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tìm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kiếm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thị</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main()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điều</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khiển</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menu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của</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chương</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trình</a:t>
            </a:r>
            <a:r>
              <a:rPr lang="en-US" sz="12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76" name="Image 0" descr="/mnt/data/oop_ppt_work/assets/code_pexels.jpg"/>
          <p:cNvPicPr/>
          <p:nvPr/>
        </p:nvPicPr>
        <p:blipFill>
          <a:blip r:embed="rId3"/>
          <a:srcRect t="18452" b="18452"/>
          <a:stretch/>
        </p:blipFill>
        <p:spPr>
          <a:xfrm>
            <a:off x="5706000" y="1115640"/>
            <a:ext cx="5760360" cy="2422800"/>
          </a:xfrm>
          <a:prstGeom prst="rect">
            <a:avLst/>
          </a:prstGeom>
          <a:noFill/>
          <a:ln w="0">
            <a:noFill/>
          </a:ln>
        </p:spPr>
      </p:pic>
      <p:sp>
        <p:nvSpPr>
          <p:cNvPr id="77" name="Text 13"/>
          <p:cNvSpPr/>
          <p:nvPr/>
        </p:nvSpPr>
        <p:spPr>
          <a:xfrm>
            <a:off x="5706000" y="3611880"/>
            <a:ext cx="5760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i="1" u="none" strike="noStrike">
                <a:solidFill>
                  <a:srgbClr val="6B7A88"/>
                </a:solidFill>
                <a:effectLst/>
                <a:uFillTx/>
                <a:latin typeface="Times New Roman" panose="02020603050405020304" pitchFamily="18" charset="0"/>
                <a:cs typeface="Times New Roman" panose="02020603050405020304" pitchFamily="18" charset="0"/>
              </a:rPr>
              <a:t>Ảnh minh họa ngữ cảnh lập trình và xây dựng hệ thống bằng C++.</a:t>
            </a:r>
            <a:endParaRPr lang="en-US" sz="939"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78" name="Text 14"/>
          <p:cNvSpPr/>
          <p:nvPr/>
        </p:nvSpPr>
        <p:spPr>
          <a:xfrm>
            <a:off x="5706000" y="3785760"/>
            <a:ext cx="5760360" cy="2057040"/>
          </a:xfrm>
          <a:prstGeom prst="rect">
            <a:avLst/>
          </a:prstGeom>
          <a:solidFill>
            <a:srgbClr val="FFF5EA"/>
          </a:solidFill>
          <a:ln w="12700">
            <a:solidFill>
              <a:srgbClr val="F4D8B7"/>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0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Điểm</a:t>
            </a:r>
            <a:r>
              <a:rPr lang="en-US" sz="160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đáng</a:t>
            </a:r>
            <a:r>
              <a:rPr lang="en-US" sz="160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chú</a:t>
            </a:r>
            <a:r>
              <a:rPr lang="en-US" sz="160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ý </a:t>
            </a:r>
            <a:r>
              <a:rPr lang="en-US" sz="160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khi</a:t>
            </a:r>
            <a:r>
              <a:rPr lang="en-US" sz="160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đọc</a:t>
            </a:r>
            <a:r>
              <a:rPr lang="en-US" sz="160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F2994A"/>
                </a:solidFill>
                <a:effectLst/>
                <a:uFillTx/>
                <a:latin typeface="Times New Roman" panose="02020603050405020304" pitchFamily="18" charset="0"/>
                <a:ea typeface="Calibri"/>
                <a:cs typeface="Times New Roman" panose="02020603050405020304" pitchFamily="18" charset="0"/>
              </a:rPr>
              <a:t>mã</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dụng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static int dem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trong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3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sinh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tự</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động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vector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Tư</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duy</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viết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theo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giúp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mỗi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thực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vi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riêng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main()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chỉ</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đóng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vai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trò</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phối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còn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nghiệp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vụ</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nằm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trong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các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2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79"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80"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81"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82"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83"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7</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84"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Thiết kế hướng đối tượng và vai trò của các lớp</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85"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86" name="Text 7"/>
          <p:cNvSpPr/>
          <p:nvPr/>
        </p:nvSpPr>
        <p:spPr>
          <a:xfrm>
            <a:off x="713160" y="1078920"/>
            <a:ext cx="10771200" cy="987120"/>
          </a:xfrm>
          <a:prstGeom prst="rect">
            <a:avLst/>
          </a:prstGeom>
          <a:solidFill>
            <a:srgbClr val="F4F7FB"/>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Các</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kỹ</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thuật</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OOP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đã</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vận</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dụng</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trong</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chương</a:t>
            </a:r>
            <a:r>
              <a:rPr lang="en-US" sz="157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57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trình</a:t>
            </a:r>
            <a:endParaRPr lang="en-US" sz="157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Đóng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gói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bằng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private / public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constructor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khởi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đối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tượng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dụng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static member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tự</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composition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trong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PhieuDangKy</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chức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động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bằng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vector | Validation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bằng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setter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hàm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hỗ</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trợ</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87" name="Text 8"/>
          <p:cNvSpPr/>
          <p:nvPr/>
        </p:nvSpPr>
        <p:spPr>
          <a:xfrm>
            <a:off x="713160" y="2423160"/>
            <a:ext cx="3428640" cy="310860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algn="ctr" defTabSz="914400">
              <a:lnSpc>
                <a:spcPct val="100000"/>
              </a:lnSpc>
              <a:tabLst>
                <a:tab pos="0" algn="l"/>
              </a:tabLst>
            </a:pPr>
            <a:r>
              <a:rPr lang="en-US" sz="17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Lớp</a:t>
            </a:r>
            <a:r>
              <a:rPr lang="en-US" sz="170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7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HocVien</a:t>
            </a:r>
            <a:endParaRPr lang="en-US" sz="17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Thuộc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maHocVien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ten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Vai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trò</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thông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tin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người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Nhập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từ</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bàn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phím</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Xuất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theo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dạng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bảng</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qua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setEmail</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88" name="Text 9"/>
          <p:cNvSpPr/>
          <p:nvPr/>
        </p:nvSpPr>
        <p:spPr>
          <a:xfrm>
            <a:off x="4380120" y="2423160"/>
            <a:ext cx="3428640" cy="3108600"/>
          </a:xfrm>
          <a:prstGeom prst="rect">
            <a:avLst/>
          </a:prstGeom>
          <a:solidFill>
            <a:srgbClr val="EDF9F8"/>
          </a:solidFill>
          <a:ln w="12700">
            <a:solidFill>
              <a:srgbClr val="BFE7E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algn="ctr" defTabSz="914400">
              <a:lnSpc>
                <a:spcPct val="100000"/>
              </a:lnSpc>
              <a:tabLst>
                <a:tab pos="0" algn="l"/>
              </a:tabLst>
            </a:pPr>
            <a:r>
              <a:rPr lang="en-US" sz="170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Lớp</a:t>
            </a:r>
            <a:r>
              <a:rPr lang="en-US" sz="170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 </a:t>
            </a:r>
            <a:r>
              <a:rPr lang="en-US" sz="1700" b="1" u="none" strike="noStrike" dirty="0" err="1">
                <a:solidFill>
                  <a:srgbClr val="0E8A86"/>
                </a:solidFill>
                <a:effectLst/>
                <a:uFillTx/>
                <a:latin typeface="Times New Roman" panose="02020603050405020304" pitchFamily="18" charset="0"/>
                <a:ea typeface="Calibri"/>
                <a:cs typeface="Times New Roman" panose="02020603050405020304" pitchFamily="18" charset="0"/>
              </a:rPr>
              <a:t>KhoaHoc</a:t>
            </a:r>
            <a:endParaRPr lang="en-US" sz="17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Thuộc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maKhoaHoc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tenKhoaHoc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giangVien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hocPhi</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Vai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trò</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thông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tin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hợp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lệ</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thị</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89" name="Text 10"/>
          <p:cNvSpPr/>
          <p:nvPr/>
        </p:nvSpPr>
        <p:spPr>
          <a:xfrm>
            <a:off x="8046720" y="2423160"/>
            <a:ext cx="3437640" cy="3108600"/>
          </a:xfrm>
          <a:prstGeom prst="rect">
            <a:avLst/>
          </a:prstGeom>
          <a:solidFill>
            <a:srgbClr val="F1EFFF"/>
          </a:solidFill>
          <a:ln w="12700">
            <a:solidFill>
              <a:srgbClr val="D7D0FF"/>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algn="ctr" defTabSz="914400">
              <a:lnSpc>
                <a:spcPct val="100000"/>
              </a:lnSpc>
              <a:tabLst>
                <a:tab pos="0" algn="l"/>
              </a:tabLst>
            </a:pPr>
            <a:r>
              <a:rPr lang="en-US" sz="170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Lớp</a:t>
            </a:r>
            <a:r>
              <a:rPr lang="en-US" sz="170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 </a:t>
            </a:r>
            <a:r>
              <a:rPr lang="en-US" sz="1700" b="1" u="none" strike="noStrike" dirty="0" err="1">
                <a:solidFill>
                  <a:srgbClr val="6C63FF"/>
                </a:solidFill>
                <a:effectLst/>
                <a:uFillTx/>
                <a:latin typeface="Times New Roman" panose="02020603050405020304" pitchFamily="18" charset="0"/>
                <a:ea typeface="Calibri"/>
                <a:cs typeface="Times New Roman" panose="02020603050405020304" pitchFamily="18" charset="0"/>
              </a:rPr>
              <a:t>PhieuDangKy</a:t>
            </a:r>
            <a:endParaRPr lang="en-US" sz="17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Thuộc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maPhieu</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hocVien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dsKhoaHoc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tongHocPhi</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trangThai</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Vai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trò</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kết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1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với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Cộng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Xuất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90"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91"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6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92"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6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93" name="Text 3"/>
          <p:cNvSpPr/>
          <p:nvPr/>
        </p:nvSpPr>
        <p:spPr>
          <a:xfrm>
            <a:off x="342720" y="659232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94"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600" b="1" u="none" strike="noStrike">
                <a:solidFill>
                  <a:srgbClr val="1E5AA8"/>
                </a:solidFill>
                <a:effectLst/>
                <a:uFillTx/>
                <a:latin typeface="Times New Roman" panose="02020603050405020304" pitchFamily="18" charset="0"/>
                <a:cs typeface="Times New Roman" panose="02020603050405020304" pitchFamily="18" charset="0"/>
              </a:rPr>
              <a:t>8</a:t>
            </a:r>
            <a:endParaRPr lang="en-US" sz="16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95"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6304A"/>
                </a:solidFill>
                <a:effectLst/>
                <a:uFillTx/>
                <a:latin typeface="Times New Roman" panose="02020603050405020304" pitchFamily="18" charset="0"/>
                <a:ea typeface="Calibri"/>
                <a:cs typeface="Times New Roman" panose="02020603050405020304" pitchFamily="18" charset="0"/>
              </a:rPr>
              <a:t>Sơ đồ lớp UML của hệ thống</a:t>
            </a:r>
            <a:endParaRPr lang="en-US" sz="16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96"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97" name="Shape 7"/>
          <p:cNvSpPr/>
          <p:nvPr/>
        </p:nvSpPr>
        <p:spPr>
          <a:xfrm>
            <a:off x="3780523" y="3016800"/>
            <a:ext cx="640080" cy="360"/>
          </a:xfrm>
          <a:prstGeom prst="line">
            <a:avLst/>
          </a:prstGeom>
          <a:ln w="25400">
            <a:solidFill>
              <a:srgbClr val="1E5AA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98" name="Shape 8"/>
          <p:cNvSpPr/>
          <p:nvPr/>
        </p:nvSpPr>
        <p:spPr>
          <a:xfrm>
            <a:off x="8161679" y="3016800"/>
            <a:ext cx="640080" cy="360"/>
          </a:xfrm>
          <a:prstGeom prst="line">
            <a:avLst/>
          </a:prstGeom>
          <a:ln w="25400">
            <a:solidFill>
              <a:srgbClr val="0E8A8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99" name="Text 9"/>
          <p:cNvSpPr/>
          <p:nvPr/>
        </p:nvSpPr>
        <p:spPr>
          <a:xfrm>
            <a:off x="342720" y="1024200"/>
            <a:ext cx="3309840" cy="4525920"/>
          </a:xfrm>
          <a:prstGeom prst="rect">
            <a:avLst/>
          </a:prstGeom>
          <a:solidFill>
            <a:srgbClr val="FFFFFF"/>
          </a:solidFill>
          <a:ln w="15240">
            <a:solidFill>
              <a:srgbClr val="1E5AA8"/>
            </a:solidFill>
            <a:round/>
          </a:ln>
        </p:spPr>
        <p:style>
          <a:lnRef idx="0">
            <a:scrgbClr r="0" g="0" b="0"/>
          </a:lnRef>
          <a:fillRef idx="0">
            <a:scrgbClr r="0" g="0" b="0"/>
          </a:fillRef>
          <a:effectRef idx="0">
            <a:scrgbClr r="0" g="0" b="0"/>
          </a:effectRef>
          <a:fontRef idx="minor"/>
        </p:style>
        <p:txBody>
          <a:bodyPr lIns="1440" tIns="1440" rIns="1440" bIns="1440" anchor="t">
            <a:normAutofit/>
          </a:bodyPr>
          <a:lstStyle/>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&lt;&lt;class&gt;&gt;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HocVien</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static dem: int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maHocVien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int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ten: string</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email: string</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HocVien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(string, string)</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getMaHocVien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getTen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getEmail</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setTen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setEmail</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nhap</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xuat</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00" name="Text 10"/>
          <p:cNvSpPr/>
          <p:nvPr/>
        </p:nvSpPr>
        <p:spPr>
          <a:xfrm>
            <a:off x="4539360" y="1019880"/>
            <a:ext cx="3456000" cy="4530240"/>
          </a:xfrm>
          <a:prstGeom prst="rect">
            <a:avLst/>
          </a:prstGeom>
          <a:solidFill>
            <a:srgbClr val="FFFFFF"/>
          </a:solidFill>
          <a:ln w="15240">
            <a:solidFill>
              <a:srgbClr val="6C63FF"/>
            </a:solidFill>
            <a:round/>
          </a:ln>
        </p:spPr>
        <p:style>
          <a:lnRef idx="0">
            <a:scrgbClr r="0" g="0" b="0"/>
          </a:lnRef>
          <a:fillRef idx="0">
            <a:scrgbClr r="0" g="0" b="0"/>
          </a:fillRef>
          <a:effectRef idx="0">
            <a:scrgbClr r="0" g="0" b="0"/>
          </a:effectRef>
          <a:fontRef idx="minor"/>
        </p:style>
        <p:txBody>
          <a:bodyPr lIns="1440" tIns="1440" rIns="1440" bIns="1440" anchor="t">
            <a:normAutofit/>
          </a:bodyPr>
          <a:lstStyle/>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&lt;&lt;class&gt;&gt;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PhieuDangKy</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static dem: int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maPhieu</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int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hocVien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HocVien</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dsKhoaHoc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vector&lt;</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&gt;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tongHocPhi</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double</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trangThai</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string</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PhieuDangKy</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(const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HocVien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&amp;)</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themKhoaHoc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(const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&amp;)</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rong</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xuatPhieu</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01" name="Text 11"/>
          <p:cNvSpPr/>
          <p:nvPr/>
        </p:nvSpPr>
        <p:spPr>
          <a:xfrm>
            <a:off x="8882160" y="1014855"/>
            <a:ext cx="3309840" cy="4525920"/>
          </a:xfrm>
          <a:prstGeom prst="rect">
            <a:avLst/>
          </a:prstGeom>
          <a:solidFill>
            <a:srgbClr val="FFFFFF"/>
          </a:solidFill>
          <a:ln w="15240">
            <a:solidFill>
              <a:srgbClr val="0E8A86"/>
            </a:solidFill>
            <a:round/>
          </a:ln>
        </p:spPr>
        <p:style>
          <a:lnRef idx="0">
            <a:scrgbClr r="0" g="0" b="0"/>
          </a:lnRef>
          <a:fillRef idx="0">
            <a:scrgbClr r="0" g="0" b="0"/>
          </a:fillRef>
          <a:effectRef idx="0">
            <a:scrgbClr r="0" g="0" b="0"/>
          </a:effectRef>
          <a:fontRef idx="minor"/>
        </p:style>
        <p:txBody>
          <a:bodyPr lIns="1440" tIns="1440" rIns="1440" bIns="1440" anchor="t">
            <a:normAutofit/>
          </a:bodyPr>
          <a:lstStyle/>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&lt;&lt;class&gt;&gt;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KhoaHoc</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static dem: int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maKhoaHoc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int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tenKhoaHoc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string</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giangVien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string</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hocPhi</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double</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(string, string, double)</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getMaKhoaHoc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getTenKhoaHoc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getGiangVien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getHocPhi</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setTenKhoaHoc</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setGiangVien</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setHocPhi</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nhap</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ourier New"/>
                <a:cs typeface="Times New Roman" panose="02020603050405020304" pitchFamily="18" charset="0"/>
              </a:rPr>
              <a:t>xuat</a:t>
            </a:r>
            <a:r>
              <a:rPr lang="en-US" sz="1600" b="0" u="none" strike="noStrike" dirty="0">
                <a:solidFill>
                  <a:srgbClr val="16304A"/>
                </a:solidFill>
                <a:effectLst/>
                <a:uFillTx/>
                <a:latin typeface="Times New Roman" panose="02020603050405020304" pitchFamily="18" charset="0"/>
                <a:ea typeface="Courier New"/>
                <a:cs typeface="Times New Roman" panose="02020603050405020304" pitchFamily="18" charset="0"/>
              </a:rPr>
              <a: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02" name="Text 12"/>
          <p:cNvSpPr/>
          <p:nvPr/>
        </p:nvSpPr>
        <p:spPr>
          <a:xfrm>
            <a:off x="342720" y="5681220"/>
            <a:ext cx="10387080" cy="347040"/>
          </a:xfrm>
          <a:prstGeom prst="rect">
            <a:avLst/>
          </a:prstGeom>
          <a:solidFill>
            <a:srgbClr val="F4F7FB"/>
          </a:solidFill>
          <a:ln w="12700">
            <a:solidFill>
              <a:srgbClr val="D8E2EC"/>
            </a:solidFill>
            <a:round/>
          </a:ln>
        </p:spPr>
        <p:style>
          <a:lnRef idx="0">
            <a:scrgbClr r="0" g="0" b="0"/>
          </a:lnRef>
          <a:fillRef idx="0">
            <a:scrgbClr r="0" g="0" b="0"/>
          </a:fillRef>
          <a:effectRef idx="0">
            <a:scrgbClr r="0" g="0" b="0"/>
          </a:effectRef>
          <a:fontRef idx="minor"/>
        </p:style>
        <p:txBody>
          <a:bodyPr lIns="1080" tIns="1080" rIns="1080" bIns="1080" anchor="t">
            <a:noAutofit/>
          </a:bodyPr>
          <a:lstStyle/>
          <a:p>
            <a:pPr defTabSz="914400">
              <a:lnSpc>
                <a:spcPct val="100000"/>
              </a:lnSpc>
              <a:tabLst>
                <a:tab pos="0" algn="l"/>
              </a:tabLst>
            </a:pPr>
            <a:r>
              <a:rPr lang="en-US" sz="160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Nhận</a:t>
            </a:r>
            <a:r>
              <a:rPr lang="en-US" sz="160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xét</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Thiết</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kế</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hiện</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tại</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composition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rất</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rõ</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PhieuDangKy</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lấy</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HocVien</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làm</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đối</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tượng</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thành</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phần</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quản</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KhoaHoc</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trong</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6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một</a:t>
            </a:r>
            <a:r>
              <a:rPr lang="en-US" sz="16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vector.</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03"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104"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05"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06" name="Text 3"/>
          <p:cNvSpPr/>
          <p:nvPr/>
        </p:nvSpPr>
        <p:spPr>
          <a:xfrm>
            <a:off x="548280" y="649224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dirty="0">
                <a:solidFill>
                  <a:srgbClr val="7A8796"/>
                </a:solidFill>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07"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9</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08"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Sơ đồ khối luồng xử lý chương trình</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09"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10" name="Shape 7"/>
          <p:cNvSpPr/>
          <p:nvPr/>
        </p:nvSpPr>
        <p:spPr>
          <a:xfrm>
            <a:off x="6093061" y="1897365"/>
            <a:ext cx="360" cy="411480"/>
          </a:xfrm>
          <a:prstGeom prst="line">
            <a:avLst/>
          </a:prstGeom>
          <a:ln w="25400">
            <a:solidFill>
              <a:srgbClr val="1E5AA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1" name="Shape 8"/>
          <p:cNvSpPr/>
          <p:nvPr/>
        </p:nvSpPr>
        <p:spPr>
          <a:xfrm flipH="1">
            <a:off x="2212560" y="2816280"/>
            <a:ext cx="1993680" cy="360"/>
          </a:xfrm>
          <a:prstGeom prst="line">
            <a:avLst/>
          </a:prstGeom>
          <a:ln w="25400">
            <a:solidFill>
              <a:srgbClr val="1E5AA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2" name="Shape 9"/>
          <p:cNvSpPr/>
          <p:nvPr/>
        </p:nvSpPr>
        <p:spPr>
          <a:xfrm>
            <a:off x="2212560" y="2816280"/>
            <a:ext cx="360" cy="493560"/>
          </a:xfrm>
          <a:prstGeom prst="line">
            <a:avLst/>
          </a:prstGeom>
          <a:ln w="25400">
            <a:solidFill>
              <a:srgbClr val="1E5AA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3" name="Shape 10"/>
          <p:cNvSpPr/>
          <p:nvPr/>
        </p:nvSpPr>
        <p:spPr>
          <a:xfrm>
            <a:off x="6098760" y="2825280"/>
            <a:ext cx="360" cy="484560"/>
          </a:xfrm>
          <a:prstGeom prst="line">
            <a:avLst/>
          </a:prstGeom>
          <a:ln w="25400">
            <a:solidFill>
              <a:srgbClr val="1E5AA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4" name="Shape 11"/>
          <p:cNvSpPr/>
          <p:nvPr/>
        </p:nvSpPr>
        <p:spPr>
          <a:xfrm>
            <a:off x="7991640" y="2816280"/>
            <a:ext cx="2039040" cy="360"/>
          </a:xfrm>
          <a:prstGeom prst="line">
            <a:avLst/>
          </a:prstGeom>
          <a:ln w="25400">
            <a:solidFill>
              <a:srgbClr val="1E5AA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5" name="Shape 12"/>
          <p:cNvSpPr/>
          <p:nvPr/>
        </p:nvSpPr>
        <p:spPr>
          <a:xfrm>
            <a:off x="10030680" y="2816280"/>
            <a:ext cx="360" cy="237600"/>
          </a:xfrm>
          <a:prstGeom prst="line">
            <a:avLst/>
          </a:prstGeom>
          <a:ln w="25400">
            <a:solidFill>
              <a:srgbClr val="1E5AA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6" name="Shape 13"/>
          <p:cNvSpPr/>
          <p:nvPr/>
        </p:nvSpPr>
        <p:spPr>
          <a:xfrm>
            <a:off x="10030680" y="4516920"/>
            <a:ext cx="360" cy="274320"/>
          </a:xfrm>
          <a:prstGeom prst="line">
            <a:avLst/>
          </a:prstGeom>
          <a:ln w="254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7" name="Shape 14"/>
          <p:cNvSpPr/>
          <p:nvPr/>
        </p:nvSpPr>
        <p:spPr>
          <a:xfrm flipH="1">
            <a:off x="6007320" y="4791240"/>
            <a:ext cx="4023360" cy="360"/>
          </a:xfrm>
          <a:prstGeom prst="line">
            <a:avLst/>
          </a:prstGeom>
          <a:ln w="25400">
            <a:solidFill>
              <a:srgbClr val="F2994A"/>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8" name="Shape 15"/>
          <p:cNvSpPr/>
          <p:nvPr/>
        </p:nvSpPr>
        <p:spPr>
          <a:xfrm>
            <a:off x="6007320" y="4791240"/>
            <a:ext cx="360" cy="292680"/>
          </a:xfrm>
          <a:prstGeom prst="line">
            <a:avLst/>
          </a:prstGeom>
          <a:ln w="25400">
            <a:solidFill>
              <a:srgbClr val="F2994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pPr algn="ctr"/>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19" name="Text 16"/>
          <p:cNvSpPr/>
          <p:nvPr/>
        </p:nvSpPr>
        <p:spPr>
          <a:xfrm>
            <a:off x="4931881" y="1213995"/>
            <a:ext cx="2322360" cy="56664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080" tIns="1080" rIns="1080" bIns="1080" anchor="t">
            <a:normAutofit/>
          </a:bodyPr>
          <a:lstStyle/>
          <a:p>
            <a:pPr algn="ctr" defTabSz="914400">
              <a:lnSpc>
                <a:spcPct val="100000"/>
              </a:lnSpc>
              <a:tabLst>
                <a:tab pos="0" algn="l"/>
              </a:tabLst>
            </a:pPr>
            <a:r>
              <a:rPr lang="en-US" sz="136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BẮT ĐẦU</a:t>
            </a:r>
            <a:endParaRPr lang="en-US" sz="136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Khởi</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chạy</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chương</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trình</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20" name="Text 17"/>
          <p:cNvSpPr/>
          <p:nvPr/>
        </p:nvSpPr>
        <p:spPr>
          <a:xfrm>
            <a:off x="4215240" y="2344890"/>
            <a:ext cx="3785400" cy="67644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440" tIns="1440" rIns="1440" bIns="1440" anchor="t">
            <a:normAutofit/>
          </a:bodyPr>
          <a:lstStyle/>
          <a:p>
            <a:pPr algn="ctr" defTabSz="914400">
              <a:lnSpc>
                <a:spcPct val="100000"/>
              </a:lnSpc>
              <a:tabLst>
                <a:tab pos="0" algn="l"/>
              </a:tabLst>
            </a:pPr>
            <a:r>
              <a:rPr lang="en-US" sz="155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MENU CHÍNH</a:t>
            </a:r>
            <a:endParaRPr lang="en-US" sz="155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Người</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chọn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thị</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hoặc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thoát</a:t>
            </a:r>
            <a:r>
              <a:rPr lang="en-US" sz="11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15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21" name="Text 18"/>
          <p:cNvSpPr/>
          <p:nvPr/>
        </p:nvSpPr>
        <p:spPr>
          <a:xfrm>
            <a:off x="822960" y="3310200"/>
            <a:ext cx="2788560" cy="107856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algn="ctr" defTabSz="914400">
              <a:lnSpc>
                <a:spcPct val="100000"/>
              </a:lnSpc>
              <a:tabLst>
                <a:tab pos="0" algn="l"/>
              </a:tabLst>
            </a:pPr>
            <a:r>
              <a:rPr lang="en-US" sz="150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QUẢN LÝ HỌC VIÊN</a:t>
            </a:r>
            <a:endParaRPr lang="en-US" sz="15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thị</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22" name="Text 19"/>
          <p:cNvSpPr/>
          <p:nvPr/>
        </p:nvSpPr>
        <p:spPr>
          <a:xfrm>
            <a:off x="4700160" y="3310200"/>
            <a:ext cx="2788560" cy="1078560"/>
          </a:xfrm>
          <a:prstGeom prst="rect">
            <a:avLst/>
          </a:prstGeom>
          <a:solidFill>
            <a:srgbClr val="EDF9F8"/>
          </a:solidFill>
          <a:ln w="12700">
            <a:solidFill>
              <a:srgbClr val="BFE7E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algn="ctr" defTabSz="914400">
              <a:lnSpc>
                <a:spcPct val="100000"/>
              </a:lnSpc>
              <a:tabLst>
                <a:tab pos="0" algn="l"/>
              </a:tabLst>
            </a:pPr>
            <a:r>
              <a:rPr lang="en-US" sz="1500" b="1" u="none" strike="noStrike" dirty="0">
                <a:solidFill>
                  <a:srgbClr val="0E8A86"/>
                </a:solidFill>
                <a:effectLst/>
                <a:uFillTx/>
                <a:latin typeface="Times New Roman" panose="02020603050405020304" pitchFamily="18" charset="0"/>
                <a:ea typeface="Calibri"/>
                <a:cs typeface="Times New Roman" panose="02020603050405020304" pitchFamily="18" charset="0"/>
              </a:rPr>
              <a:t>QUẢN LÝ KHÓA HỌC</a:t>
            </a:r>
            <a:endParaRPr lang="en-US" sz="15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thị</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23" name="Text 20"/>
          <p:cNvSpPr/>
          <p:nvPr/>
        </p:nvSpPr>
        <p:spPr>
          <a:xfrm>
            <a:off x="8577000" y="3054240"/>
            <a:ext cx="2907360" cy="1462680"/>
          </a:xfrm>
          <a:prstGeom prst="rect">
            <a:avLst/>
          </a:prstGeom>
          <a:solidFill>
            <a:srgbClr val="F1EFFF"/>
          </a:solidFill>
          <a:ln w="12700">
            <a:solidFill>
              <a:srgbClr val="D7D0FF"/>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algn="ctr" defTabSz="914400">
              <a:lnSpc>
                <a:spcPct val="100000"/>
              </a:lnSpc>
              <a:tabLst>
                <a:tab pos="0" algn="l"/>
              </a:tabLst>
            </a:pPr>
            <a:r>
              <a:rPr lang="en-US" sz="1500" b="1" u="none" strike="noStrike" dirty="0">
                <a:solidFill>
                  <a:srgbClr val="6C63FF"/>
                </a:solidFill>
                <a:effectLst/>
                <a:uFillTx/>
                <a:latin typeface="Times New Roman" panose="02020603050405020304" pitchFamily="18" charset="0"/>
                <a:ea typeface="Calibri"/>
                <a:cs typeface="Times New Roman" panose="02020603050405020304" pitchFamily="18" charset="0"/>
              </a:rPr>
              <a:t>TẠO PHIẾU ĐĂNG KÝ</a:t>
            </a:r>
            <a:endParaRPr lang="en-US" sz="15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Chọn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Chọn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1..n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Cộng</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tổng</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Không</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nếu</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rỗng</a:t>
            </a:r>
            <a:endParaRPr lang="en-US" sz="13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24" name="Text 21"/>
          <p:cNvSpPr/>
          <p:nvPr/>
        </p:nvSpPr>
        <p:spPr>
          <a:xfrm>
            <a:off x="3785760" y="5083920"/>
            <a:ext cx="4434480" cy="840960"/>
          </a:xfrm>
          <a:prstGeom prst="rect">
            <a:avLst/>
          </a:prstGeom>
          <a:solidFill>
            <a:srgbClr val="FFF5EA"/>
          </a:solidFill>
          <a:ln w="12700">
            <a:solidFill>
              <a:srgbClr val="F4D8B7"/>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440" tIns="1440" rIns="1440" bIns="1440" anchor="t">
            <a:normAutofit/>
          </a:bodyPr>
          <a:lstStyle/>
          <a:p>
            <a:pPr algn="ctr" defTabSz="914400">
              <a:lnSpc>
                <a:spcPct val="100000"/>
              </a:lnSpc>
              <a:tabLst>
                <a:tab pos="0" algn="l"/>
              </a:tabLst>
            </a:pPr>
            <a:r>
              <a:rPr lang="en-US" sz="1520" b="1" u="none" strike="noStrike" dirty="0">
                <a:solidFill>
                  <a:srgbClr val="F2994A"/>
                </a:solidFill>
                <a:effectLst/>
                <a:uFillTx/>
                <a:latin typeface="Times New Roman" panose="02020603050405020304" pitchFamily="18" charset="0"/>
                <a:ea typeface="Calibri"/>
                <a:cs typeface="Times New Roman" panose="02020603050405020304" pitchFamily="18" charset="0"/>
              </a:rPr>
              <a:t>XUẤT KẾT QUẢ</a:t>
            </a:r>
            <a:endParaRPr lang="en-US" sz="152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In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quay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lại</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menu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để</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tiếp</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tục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thao</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tác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hoặc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thoát</a:t>
            </a:r>
            <a:r>
              <a:rPr lang="en-US" sz="11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25" name="Text 22"/>
          <p:cNvSpPr/>
          <p:nvPr/>
        </p:nvSpPr>
        <p:spPr>
          <a:xfrm>
            <a:off x="822960" y="5083920"/>
            <a:ext cx="2559960" cy="713160"/>
          </a:xfrm>
          <a:prstGeom prst="rect">
            <a:avLst/>
          </a:prstGeom>
          <a:solidFill>
            <a:srgbClr val="F4F7FB"/>
          </a:solidFill>
          <a:ln w="12700">
            <a:solidFill>
              <a:srgbClr val="D8E2EC"/>
            </a:solidFill>
            <a:round/>
          </a:ln>
        </p:spPr>
        <p:style>
          <a:lnRef idx="0">
            <a:scrgbClr r="0" g="0" b="0"/>
          </a:lnRef>
          <a:fillRef idx="0">
            <a:scrgbClr r="0" g="0" b="0"/>
          </a:fillRef>
          <a:effectRef idx="0">
            <a:scrgbClr r="0" g="0" b="0"/>
          </a:effectRef>
          <a:fontRef idx="minor"/>
        </p:style>
        <p:txBody>
          <a:bodyPr lIns="1080" tIns="1080" rIns="1080" bIns="1080" anchor="t">
            <a:normAutofit/>
          </a:bodyPr>
          <a:lstStyle/>
          <a:p>
            <a:pPr algn="ctr" defTabSz="914400">
              <a:lnSpc>
                <a:spcPct val="100000"/>
              </a:lnSpc>
              <a:tabLst>
                <a:tab pos="0" algn="l"/>
              </a:tabLst>
            </a:pPr>
            <a:r>
              <a:rPr lang="en-US" sz="126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Điều</a:t>
            </a:r>
            <a:r>
              <a:rPr lang="en-US" sz="126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26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kiện</a:t>
            </a:r>
            <a:r>
              <a:rPr lang="en-US" sz="126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26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quan</a:t>
            </a:r>
            <a:r>
              <a:rPr lang="en-US" sz="1260"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260"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trọng</a:t>
            </a:r>
            <a:endParaRPr lang="en-US" sz="1260" b="0" u="none" strike="noStrike" dirty="0">
              <a:solidFill>
                <a:srgbClr val="000000"/>
              </a:solidFill>
              <a:effectLst/>
              <a:uFillTx/>
              <a:latin typeface="Times New Roman" panose="02020603050405020304" pitchFamily="18" charset="0"/>
              <a:cs typeface="Times New Roman" panose="02020603050405020304" pitchFamily="18" charset="0"/>
            </a:endParaRPr>
          </a:p>
          <a:p>
            <a:pPr algn="ctr" defTabSz="914400">
              <a:lnSpc>
                <a:spcPct val="100000"/>
              </a:lnSpc>
              <a:tabLst>
                <a:tab pos="0" algn="l"/>
              </a:tabLst>
            </a:pP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Phải</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sẵn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trước</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khi</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3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3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05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05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26"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127"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28"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29" name="Text 3"/>
          <p:cNvSpPr/>
          <p:nvPr/>
        </p:nvSpPr>
        <p:spPr>
          <a:xfrm>
            <a:off x="584640" y="647856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30"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10</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31"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Quy tắc kiểm tra dữ liệu và thuật toán xử lý</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32"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33" name="Text 7"/>
          <p:cNvSpPr/>
          <p:nvPr/>
        </p:nvSpPr>
        <p:spPr>
          <a:xfrm>
            <a:off x="713160" y="1097280"/>
            <a:ext cx="5074560" cy="1055370"/>
          </a:xfrm>
          <a:prstGeom prst="rect">
            <a:avLst/>
          </a:prstGeom>
          <a:solidFill>
            <a:srgbClr val="0F172A"/>
          </a:solidFill>
          <a:ln w="12700">
            <a:solidFill>
              <a:srgbClr val="0F172A"/>
            </a:solidFill>
            <a:round/>
          </a:ln>
          <a:effectLst>
            <a:outerShdw blurRad="25560" dist="12218" dir="2700000" algn="bl" rotWithShape="0">
              <a:srgbClr val="000000">
                <a:alpha val="15000"/>
              </a:srgbClr>
            </a:outerShdw>
          </a:effectLst>
        </p:spPr>
        <p:style>
          <a:lnRef idx="0">
            <a:scrgbClr r="0" g="0" b="0"/>
          </a:lnRef>
          <a:fillRef idx="0">
            <a:scrgbClr r="0" g="0" b="0"/>
          </a:fillRef>
          <a:effectRef idx="0">
            <a:scrgbClr r="0" g="0" b="0"/>
          </a:effectRef>
          <a:fontRef idx="minor"/>
        </p:style>
        <p:txBody>
          <a:bodyPr lIns="1440" tIns="1440" rIns="1440" bIns="1440" anchor="t">
            <a:normAutofit/>
          </a:bodyPr>
          <a:lstStyle/>
          <a:p>
            <a:pPr defTabSz="914400">
              <a:lnSpc>
                <a:spcPct val="100000"/>
              </a:lnSpc>
              <a:tabLst>
                <a:tab pos="0" algn="l"/>
              </a:tabLst>
            </a:pPr>
            <a:r>
              <a:rPr lang="en-US" sz="104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Snippet 1  |  </a:t>
            </a:r>
            <a:r>
              <a:rPr lang="en-US" sz="104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Kiểm</a:t>
            </a:r>
            <a:r>
              <a:rPr lang="en-US" sz="104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a:t>
            </a:r>
            <a:r>
              <a:rPr lang="en-US" sz="104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tra</a:t>
            </a:r>
            <a:r>
              <a:rPr lang="en-US" sz="104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email</a:t>
            </a:r>
            <a:endParaRPr lang="en-US" sz="104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bool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emailHopLe</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(const string&amp; email) {</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return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email.find</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 string::</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npos</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&amp;&amp;</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email.find</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 string::</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npos</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p:txBody>
      </p:sp>
      <p:sp>
        <p:nvSpPr>
          <p:cNvPr id="134" name="Text 8"/>
          <p:cNvSpPr/>
          <p:nvPr/>
        </p:nvSpPr>
        <p:spPr>
          <a:xfrm>
            <a:off x="713160" y="2473920"/>
            <a:ext cx="5074560" cy="1336080"/>
          </a:xfrm>
          <a:prstGeom prst="rect">
            <a:avLst/>
          </a:prstGeom>
          <a:solidFill>
            <a:srgbClr val="0F172A"/>
          </a:solidFill>
          <a:ln w="12700">
            <a:solidFill>
              <a:srgbClr val="0F172A"/>
            </a:solidFill>
            <a:round/>
          </a:ln>
          <a:effectLst>
            <a:outerShdw blurRad="25560" dist="12218" dir="2700000" algn="bl" rotWithShape="0">
              <a:srgbClr val="000000">
                <a:alpha val="15000"/>
              </a:srgbClr>
            </a:outerShdw>
          </a:effectLst>
        </p:spPr>
        <p:style>
          <a:lnRef idx="0">
            <a:scrgbClr r="0" g="0" b="0"/>
          </a:lnRef>
          <a:fillRef idx="0">
            <a:scrgbClr r="0" g="0" b="0"/>
          </a:fillRef>
          <a:effectRef idx="0">
            <a:scrgbClr r="0" g="0" b="0"/>
          </a:effectRef>
          <a:fontRef idx="minor"/>
        </p:style>
        <p:txBody>
          <a:bodyPr lIns="1440" tIns="1440" rIns="1440" bIns="1440" anchor="t">
            <a:normAutofit/>
          </a:bodyPr>
          <a:lstStyle/>
          <a:p>
            <a:pPr defTabSz="914400">
              <a:lnSpc>
                <a:spcPct val="100000"/>
              </a:lnSpc>
              <a:tabLst>
                <a:tab pos="0" algn="l"/>
              </a:tabLst>
            </a:pPr>
            <a:r>
              <a:rPr lang="en-US" sz="104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Snippet 2  |  </a:t>
            </a:r>
            <a:r>
              <a:rPr lang="en-US" sz="104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Kiểm</a:t>
            </a:r>
            <a:r>
              <a:rPr lang="en-US" sz="104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a:t>
            </a:r>
            <a:r>
              <a:rPr lang="en-US" sz="104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tra</a:t>
            </a:r>
            <a:r>
              <a:rPr lang="en-US" sz="104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a:t>
            </a:r>
            <a:r>
              <a:rPr lang="en-US" sz="104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học</a:t>
            </a:r>
            <a:r>
              <a:rPr lang="en-US" sz="104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a:t>
            </a:r>
            <a:r>
              <a:rPr lang="en-US" sz="104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phí</a:t>
            </a:r>
            <a:endParaRPr lang="en-US" sz="104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void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setHocPhi</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(double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hpMoi</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if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hpMoi</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&gt; 0)</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hocPhi</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hpMoi</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else</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hocPhi</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 1000000;</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p:txBody>
      </p:sp>
      <p:sp>
        <p:nvSpPr>
          <p:cNvPr id="135" name="Text 9"/>
          <p:cNvSpPr/>
          <p:nvPr/>
        </p:nvSpPr>
        <p:spPr>
          <a:xfrm>
            <a:off x="713160" y="4064595"/>
            <a:ext cx="5074560" cy="2244765"/>
          </a:xfrm>
          <a:prstGeom prst="rect">
            <a:avLst/>
          </a:prstGeom>
          <a:solidFill>
            <a:srgbClr val="0F172A"/>
          </a:solidFill>
          <a:ln w="12700">
            <a:solidFill>
              <a:srgbClr val="0F172A"/>
            </a:solidFill>
            <a:round/>
          </a:ln>
          <a:effectLst>
            <a:outerShdw blurRad="25560" dist="12218" dir="2700000" algn="bl" rotWithShape="0">
              <a:srgbClr val="000000">
                <a:alpha val="15000"/>
              </a:srgbClr>
            </a:outerShdw>
          </a:effectLst>
        </p:spPr>
        <p:style>
          <a:lnRef idx="0">
            <a:scrgbClr r="0" g="0" b="0"/>
          </a:lnRef>
          <a:fillRef idx="0">
            <a:scrgbClr r="0" g="0" b="0"/>
          </a:fillRef>
          <a:effectRef idx="0">
            <a:scrgbClr r="0" g="0" b="0"/>
          </a:effectRef>
          <a:fontRef idx="minor"/>
        </p:style>
        <p:txBody>
          <a:bodyPr lIns="1440" tIns="1440" rIns="1440" bIns="1440" anchor="t">
            <a:noAutofit/>
          </a:bodyPr>
          <a:lstStyle/>
          <a:p>
            <a:pPr defTabSz="914400">
              <a:lnSpc>
                <a:spcPct val="100000"/>
              </a:lnSpc>
              <a:tabLst>
                <a:tab pos="0" algn="l"/>
              </a:tabLst>
            </a:pPr>
            <a:r>
              <a:rPr lang="en-US" sz="110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Snippet 3  |  </a:t>
            </a:r>
            <a:r>
              <a:rPr lang="en-US" sz="110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Thuật</a:t>
            </a:r>
            <a:r>
              <a:rPr lang="en-US" sz="110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a:t>
            </a:r>
            <a:r>
              <a:rPr lang="en-US" sz="110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toán</a:t>
            </a:r>
            <a:r>
              <a:rPr lang="en-US" sz="110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a:t>
            </a:r>
            <a:r>
              <a:rPr lang="en-US" sz="110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lưu</a:t>
            </a:r>
            <a:r>
              <a:rPr lang="en-US" sz="1100" b="1" u="none" strike="noStrike" dirty="0">
                <a:solidFill>
                  <a:srgbClr val="B9D7FF"/>
                </a:solidFill>
                <a:effectLst/>
                <a:uFillTx/>
                <a:latin typeface="Times New Roman" panose="02020603050405020304" pitchFamily="18" charset="0"/>
                <a:ea typeface="Calibri"/>
                <a:cs typeface="Times New Roman" panose="02020603050405020304" pitchFamily="18" charset="0"/>
              </a:rPr>
              <a:t> </a:t>
            </a:r>
            <a:r>
              <a:rPr lang="en-US" sz="1100" b="1" u="none" strike="noStrike" dirty="0" err="1">
                <a:solidFill>
                  <a:srgbClr val="B9D7FF"/>
                </a:solidFill>
                <a:effectLst/>
                <a:uFillTx/>
                <a:latin typeface="Times New Roman" panose="02020603050405020304" pitchFamily="18" charset="0"/>
                <a:ea typeface="Calibri"/>
                <a:cs typeface="Times New Roman" panose="02020603050405020304" pitchFamily="18" charset="0"/>
              </a:rPr>
              <a:t>phiếu</a:t>
            </a:r>
            <a:endParaRPr lang="en-US" sz="11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PhieuDangKy</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phieu</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dsHocVien</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viTriHocVien</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do {</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 chon ma khoa hoc</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if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maKhoaHoc</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 0) break;</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phieu.themKhoaHoc</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dsKhoaHoc</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viTriKhoaHoc</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while (true);</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if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phieu.rong</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khong</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luu</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else </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dsPhieu.push_back</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r>
              <a:rPr lang="en-US" sz="1200" b="0" u="none" strike="noStrike" dirty="0" err="1">
                <a:solidFill>
                  <a:srgbClr val="FFFFFF"/>
                </a:solidFill>
                <a:effectLst/>
                <a:uFillTx/>
                <a:latin typeface="Times New Roman" panose="02020603050405020304" pitchFamily="18" charset="0"/>
                <a:ea typeface="Courier New"/>
                <a:cs typeface="Times New Roman" panose="02020603050405020304" pitchFamily="18" charset="0"/>
              </a:rPr>
              <a:t>phieu</a:t>
            </a:r>
            <a:r>
              <a:rPr lang="en-US" sz="1200" b="0" u="none" strike="noStrike" dirty="0">
                <a:solidFill>
                  <a:srgbClr val="FFFFFF"/>
                </a:solidFill>
                <a:effectLst/>
                <a:uFillTx/>
                <a:latin typeface="Times New Roman" panose="02020603050405020304" pitchFamily="18" charset="0"/>
                <a:ea typeface="Courier New"/>
                <a:cs typeface="Times New Roman" panose="02020603050405020304" pitchFamily="18" charset="0"/>
              </a:rPr>
              <a:t>);</a:t>
            </a:r>
            <a:endParaRPr lang="en-US" sz="1200" b="0" u="none" strike="noStrike" dirty="0">
              <a:solidFill>
                <a:srgbClr val="FFFFFF"/>
              </a:solidFill>
              <a:effectLst/>
              <a:uFillTx/>
              <a:latin typeface="Times New Roman" panose="02020603050405020304" pitchFamily="18" charset="0"/>
              <a:cs typeface="Times New Roman" panose="02020603050405020304" pitchFamily="18" charset="0"/>
            </a:endParaRPr>
          </a:p>
        </p:txBody>
      </p:sp>
      <p:pic>
        <p:nvPicPr>
          <p:cNvPr id="136" name="Image 0" descr="/mnt/data/oop_ppt_work/assets/code_closeup_pexels.jpg"/>
          <p:cNvPicPr/>
          <p:nvPr/>
        </p:nvPicPr>
        <p:blipFill>
          <a:blip r:embed="rId3"/>
          <a:srcRect t="18170" b="18170"/>
          <a:stretch/>
        </p:blipFill>
        <p:spPr>
          <a:xfrm>
            <a:off x="6035040" y="1097280"/>
            <a:ext cx="5449320" cy="2304000"/>
          </a:xfrm>
          <a:prstGeom prst="rect">
            <a:avLst/>
          </a:prstGeom>
          <a:noFill/>
          <a:ln w="0">
            <a:noFill/>
          </a:ln>
        </p:spPr>
      </p:pic>
      <p:sp>
        <p:nvSpPr>
          <p:cNvPr id="137" name="Text 10"/>
          <p:cNvSpPr/>
          <p:nvPr/>
        </p:nvSpPr>
        <p:spPr>
          <a:xfrm>
            <a:off x="6035040" y="3474720"/>
            <a:ext cx="5449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39" b="0" i="1" u="none" strike="noStrike">
                <a:solidFill>
                  <a:srgbClr val="6B7A88"/>
                </a:solidFill>
                <a:effectLst/>
                <a:uFillTx/>
                <a:latin typeface="Times New Roman" panose="02020603050405020304" pitchFamily="18" charset="0"/>
                <a:cs typeface="Times New Roman" panose="02020603050405020304" pitchFamily="18" charset="0"/>
              </a:rPr>
              <a:t>Hình minh họa công việc lập trình và kiểm tra logic của hệ thống.</a:t>
            </a:r>
            <a:endParaRPr lang="en-US" sz="939"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38" name="Text 11"/>
          <p:cNvSpPr/>
          <p:nvPr/>
        </p:nvSpPr>
        <p:spPr>
          <a:xfrm>
            <a:off x="6035040" y="3675960"/>
            <a:ext cx="5449320" cy="223092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20"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Giải</a:t>
            </a:r>
            <a:r>
              <a:rPr lang="en-US" sz="1620" b="1" u="none" strike="noStrike" dirty="0">
                <a:solidFill>
                  <a:srgbClr val="D65A67"/>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thích</a:t>
            </a:r>
            <a:r>
              <a:rPr lang="en-US" sz="1620" b="1" u="none" strike="noStrike" dirty="0">
                <a:solidFill>
                  <a:srgbClr val="D65A67"/>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nghiệp</a:t>
            </a:r>
            <a:r>
              <a:rPr lang="en-US" sz="1620" b="1" u="none" strike="noStrike" dirty="0">
                <a:solidFill>
                  <a:srgbClr val="D65A67"/>
                </a:solidFill>
                <a:effectLst/>
                <a:uFillTx/>
                <a:latin typeface="Times New Roman" panose="02020603050405020304" pitchFamily="18" charset="0"/>
                <a:ea typeface="Calibri"/>
                <a:cs typeface="Times New Roman" panose="02020603050405020304" pitchFamily="18" charset="0"/>
              </a:rPr>
              <a:t> </a:t>
            </a:r>
            <a:r>
              <a:rPr lang="en-US" sz="1620"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vụ</a:t>
            </a:r>
            <a:endParaRPr lang="en-US" sz="162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hiện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được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ở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mức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chỉ</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cần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dấu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chấm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phải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0,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sai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hệ</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thống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mặc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định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1.000.000.</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Khi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chương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trình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phép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bằng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vòng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lặp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do-while.</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người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không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thêm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nào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thì</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rỗng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không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được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sách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39"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140"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41"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42" name="Text 3"/>
          <p:cNvSpPr/>
          <p:nvPr/>
        </p:nvSpPr>
        <p:spPr>
          <a:xfrm>
            <a:off x="511920" y="647856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43"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11</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44"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Kịch bản chạy thử và kết quả minh họa</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45"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46" name="Text 7"/>
          <p:cNvSpPr/>
          <p:nvPr/>
        </p:nvSpPr>
        <p:spPr>
          <a:xfrm>
            <a:off x="713160" y="1097280"/>
            <a:ext cx="3840120" cy="191988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Bộ</a:t>
            </a:r>
            <a:r>
              <a:rPr lang="en-US" sz="160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dữ</a:t>
            </a:r>
            <a:r>
              <a:rPr lang="en-US" sz="160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liệu</a:t>
            </a:r>
            <a:r>
              <a:rPr lang="en-US" sz="1600" b="1" u="none" strike="noStrike" dirty="0">
                <a:solidFill>
                  <a:srgbClr val="1E5AA8"/>
                </a:solidFill>
                <a:effectLst/>
                <a:uFillTx/>
                <a:latin typeface="Times New Roman" panose="02020603050405020304" pitchFamily="18" charset="0"/>
                <a:ea typeface="Calibri"/>
                <a:cs typeface="Times New Roman" panose="02020603050405020304" pitchFamily="18" charset="0"/>
              </a:rPr>
              <a:t> </a:t>
            </a:r>
            <a:r>
              <a:rPr lang="en-US" sz="1600" b="1" u="none" strike="noStrike" dirty="0" err="1">
                <a:solidFill>
                  <a:srgbClr val="1E5AA8"/>
                </a:solidFill>
                <a:effectLst/>
                <a:uFillTx/>
                <a:latin typeface="Times New Roman" panose="02020603050405020304" pitchFamily="18" charset="0"/>
                <a:ea typeface="Calibri"/>
                <a:cs typeface="Times New Roman" panose="02020603050405020304" pitchFamily="18" charset="0"/>
              </a:rPr>
              <a:t>thử</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1: </a:t>
            </a:r>
            <a:r>
              <a:rPr lang="vi-VN"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Nguyen Thanh Da</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vi-VN"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danguyen</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r>
              <a:rPr lang="vi-VN"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hotmail</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.com</a:t>
            </a:r>
            <a:endParaRPr lang="en-US" sz="124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2: </a:t>
            </a:r>
            <a:r>
              <a:rPr lang="vi-VN"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Phung Thanh Tra</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vi-VN"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tra2142008@gmail.com</a:t>
            </a:r>
            <a:endParaRPr lang="en-US" sz="124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1: Lap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trinh</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 - 1.500.000</a:t>
            </a:r>
            <a:endParaRPr lang="en-US" sz="124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2: Lap </a:t>
            </a:r>
            <a:r>
              <a:rPr lang="en-US" sz="124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trinh</a:t>
            </a:r>
            <a:r>
              <a:rPr lang="en-US" sz="124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OOP - 1.800.000</a:t>
            </a:r>
            <a:endParaRPr lang="en-US" sz="12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47" name="Text 8"/>
          <p:cNvSpPr/>
          <p:nvPr/>
        </p:nvSpPr>
        <p:spPr>
          <a:xfrm>
            <a:off x="713160" y="3255120"/>
            <a:ext cx="3840120" cy="1956600"/>
          </a:xfrm>
          <a:prstGeom prst="rect">
            <a:avLst/>
          </a:prstGeom>
          <a:solidFill>
            <a:srgbClr val="EDF9F8"/>
          </a:solidFill>
          <a:ln w="12700">
            <a:solidFill>
              <a:srgbClr val="BFE7E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00" b="1" u="none" strike="noStrike">
                <a:solidFill>
                  <a:srgbClr val="0E8A86"/>
                </a:solidFill>
                <a:effectLst/>
                <a:uFillTx/>
                <a:latin typeface="Times New Roman" panose="02020603050405020304" pitchFamily="18" charset="0"/>
                <a:ea typeface="Calibri"/>
                <a:cs typeface="Times New Roman" panose="02020603050405020304" pitchFamily="18" charset="0"/>
              </a:rPr>
              <a:t>Các bước test</a:t>
            </a:r>
            <a:endParaRPr lang="en-US" sz="160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a:solidFill>
                  <a:srgbClr val="16304A"/>
                </a:solidFill>
                <a:effectLst/>
                <a:uFillTx/>
                <a:latin typeface="Times New Roman" panose="02020603050405020304" pitchFamily="18" charset="0"/>
                <a:ea typeface="Calibri"/>
                <a:cs typeface="Times New Roman" panose="02020603050405020304" pitchFamily="18" charset="0"/>
              </a:rPr>
              <a:t>1. Thêm 2 học viên</a:t>
            </a:r>
            <a:endParaRPr lang="en-US" sz="124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a:solidFill>
                  <a:srgbClr val="16304A"/>
                </a:solidFill>
                <a:effectLst/>
                <a:uFillTx/>
                <a:latin typeface="Times New Roman" panose="02020603050405020304" pitchFamily="18" charset="0"/>
                <a:ea typeface="Calibri"/>
                <a:cs typeface="Times New Roman" panose="02020603050405020304" pitchFamily="18" charset="0"/>
              </a:rPr>
              <a:t>2. Thêm 2 khóa học</a:t>
            </a:r>
            <a:endParaRPr lang="en-US" sz="124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a:solidFill>
                  <a:srgbClr val="16304A"/>
                </a:solidFill>
                <a:effectLst/>
                <a:uFillTx/>
                <a:latin typeface="Times New Roman" panose="02020603050405020304" pitchFamily="18" charset="0"/>
                <a:ea typeface="Calibri"/>
                <a:cs typeface="Times New Roman" panose="02020603050405020304" pitchFamily="18" charset="0"/>
              </a:rPr>
              <a:t>3. Chọn học viên mã 1</a:t>
            </a:r>
            <a:endParaRPr lang="en-US" sz="124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a:solidFill>
                  <a:srgbClr val="16304A"/>
                </a:solidFill>
                <a:effectLst/>
                <a:uFillTx/>
                <a:latin typeface="Times New Roman" panose="02020603050405020304" pitchFamily="18" charset="0"/>
                <a:ea typeface="Calibri"/>
                <a:cs typeface="Times New Roman" panose="02020603050405020304" pitchFamily="18" charset="0"/>
              </a:rPr>
              <a:t>4. Thêm 2 khóa học vào phiếu</a:t>
            </a:r>
            <a:endParaRPr lang="en-US" sz="124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40" b="0" u="none" strike="noStrike">
                <a:solidFill>
                  <a:srgbClr val="16304A"/>
                </a:solidFill>
                <a:effectLst/>
                <a:uFillTx/>
                <a:latin typeface="Times New Roman" panose="02020603050405020304" pitchFamily="18" charset="0"/>
                <a:ea typeface="Calibri"/>
                <a:cs typeface="Times New Roman" panose="02020603050405020304" pitchFamily="18" charset="0"/>
              </a:rPr>
              <a:t>5. Chọn xuất phiếu đăng ký</a:t>
            </a:r>
            <a:endParaRPr lang="en-US" sz="124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48" name="Text 9"/>
          <p:cNvSpPr/>
          <p:nvPr/>
        </p:nvSpPr>
        <p:spPr>
          <a:xfrm>
            <a:off x="713160" y="5468040"/>
            <a:ext cx="3840120" cy="438480"/>
          </a:xfrm>
          <a:prstGeom prst="rect">
            <a:avLst/>
          </a:prstGeom>
          <a:solidFill>
            <a:srgbClr val="FFF5EA"/>
          </a:solidFill>
          <a:ln w="12700">
            <a:solidFill>
              <a:srgbClr val="F4D8B7"/>
            </a:solidFill>
            <a:round/>
          </a:ln>
        </p:spPr>
        <p:style>
          <a:lnRef idx="0">
            <a:scrgbClr r="0" g="0" b="0"/>
          </a:lnRef>
          <a:fillRef idx="0">
            <a:scrgbClr r="0" g="0" b="0"/>
          </a:fillRef>
          <a:effectRef idx="0">
            <a:scrgbClr r="0" g="0" b="0"/>
          </a:effectRef>
          <a:fontRef idx="minor"/>
        </p:style>
        <p:txBody>
          <a:bodyPr lIns="1080" tIns="1080" rIns="1080" bIns="1080" anchor="t">
            <a:normAutofit/>
          </a:bodyPr>
          <a:lstStyle/>
          <a:p>
            <a:pPr defTabSz="914400">
              <a:lnSpc>
                <a:spcPct val="100000"/>
              </a:lnSpc>
              <a:tabLst>
                <a:tab pos="0" algn="l"/>
              </a:tabLst>
            </a:pPr>
            <a:r>
              <a:rPr lang="en-US" sz="1240" b="1" u="none" strike="noStrike">
                <a:solidFill>
                  <a:srgbClr val="F2994A"/>
                </a:solidFill>
                <a:effectLst/>
                <a:uFillTx/>
                <a:latin typeface="Times New Roman" panose="02020603050405020304" pitchFamily="18" charset="0"/>
                <a:ea typeface="Calibri"/>
                <a:cs typeface="Times New Roman" panose="02020603050405020304" pitchFamily="18" charset="0"/>
              </a:rPr>
              <a:t>Kết quả kiểm chứng</a:t>
            </a:r>
            <a:endParaRPr lang="en-US" sz="124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070" b="0" u="none" strike="noStrike">
                <a:solidFill>
                  <a:srgbClr val="16304A"/>
                </a:solidFill>
                <a:effectLst/>
                <a:uFillTx/>
                <a:latin typeface="Times New Roman" panose="02020603050405020304" pitchFamily="18" charset="0"/>
                <a:ea typeface="Calibri"/>
                <a:cs typeface="Times New Roman" panose="02020603050405020304" pitchFamily="18" charset="0"/>
              </a:rPr>
              <a:t>Tổng học phí được cộng đúng: 1.500.000 + 1.800.000 = 3.300.000.</a:t>
            </a:r>
            <a:endParaRPr lang="en-US" sz="107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50" name="Text 11"/>
          <p:cNvSpPr/>
          <p:nvPr/>
        </p:nvSpPr>
        <p:spPr>
          <a:xfrm>
            <a:off x="4882680" y="4930383"/>
            <a:ext cx="66200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Trích</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đoạn</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màn</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hình</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console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sau</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khi</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nhóm</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thêm</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dữ</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liệu</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và</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xuất</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phiếu</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đăng</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 </a:t>
            </a:r>
            <a:r>
              <a:rPr lang="en-US" sz="980" b="1" i="1" u="none" strike="noStrike" dirty="0" err="1">
                <a:solidFill>
                  <a:srgbClr val="6B7A88"/>
                </a:solidFill>
                <a:effectLst/>
                <a:uFillTx/>
                <a:latin typeface="Times New Roman" panose="02020603050405020304" pitchFamily="18" charset="0"/>
                <a:cs typeface="Times New Roman" panose="02020603050405020304" pitchFamily="18" charset="0"/>
              </a:rPr>
              <a:t>ký</a:t>
            </a:r>
            <a:r>
              <a:rPr lang="en-US" sz="980" b="1" i="1" u="none" strike="noStrike" dirty="0">
                <a:solidFill>
                  <a:srgbClr val="6B7A88"/>
                </a:solidFill>
                <a:effectLst/>
                <a:uFillTx/>
                <a:latin typeface="Times New Roman" panose="02020603050405020304" pitchFamily="18" charset="0"/>
                <a:cs typeface="Times New Roman" panose="02020603050405020304" pitchFamily="18" charset="0"/>
              </a:rPr>
              <a:t>.</a:t>
            </a:r>
            <a:endParaRPr lang="en-US" sz="980" b="1"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463BBAF-3A0F-4770-B652-8D75BC82FC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1439" y="1105410"/>
            <a:ext cx="6501281" cy="36517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51"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152"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53"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54"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55"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12</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56"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Đánh giá chương trình hiện tại</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57"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58" name="Text 7"/>
          <p:cNvSpPr/>
          <p:nvPr/>
        </p:nvSpPr>
        <p:spPr>
          <a:xfrm>
            <a:off x="713160" y="1134000"/>
            <a:ext cx="3547440" cy="4736160"/>
          </a:xfrm>
          <a:prstGeom prst="rect">
            <a:avLst/>
          </a:prstGeom>
          <a:solidFill>
            <a:srgbClr val="EEF8F0"/>
          </a:solidFill>
          <a:ln w="12700">
            <a:solidFill>
              <a:srgbClr val="CCE8D0"/>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79" b="1" u="none" strike="noStrike" dirty="0" err="1">
                <a:solidFill>
                  <a:srgbClr val="2B7C46"/>
                </a:solidFill>
                <a:effectLst/>
                <a:uFillTx/>
                <a:latin typeface="Times New Roman" panose="02020603050405020304" pitchFamily="18" charset="0"/>
                <a:ea typeface="Calibri"/>
                <a:cs typeface="Times New Roman" panose="02020603050405020304" pitchFamily="18" charset="0"/>
              </a:rPr>
              <a:t>Ưu</a:t>
            </a:r>
            <a:r>
              <a:rPr lang="en-US" sz="1679" b="1" u="none" strike="noStrike" dirty="0">
                <a:solidFill>
                  <a:srgbClr val="2B7C46"/>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2B7C46"/>
                </a:solidFill>
                <a:effectLst/>
                <a:uFillTx/>
                <a:latin typeface="Times New Roman" panose="02020603050405020304" pitchFamily="18" charset="0"/>
                <a:ea typeface="Calibri"/>
                <a:cs typeface="Times New Roman" panose="02020603050405020304" pitchFamily="18" charset="0"/>
              </a:rPr>
              <a:t>điểm</a:t>
            </a:r>
            <a:r>
              <a:rPr lang="en-US" sz="1679" b="1" u="none" strike="noStrike" dirty="0">
                <a:solidFill>
                  <a:srgbClr val="2B7C46"/>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2B7C46"/>
                </a:solidFill>
                <a:effectLst/>
                <a:uFillTx/>
                <a:latin typeface="Times New Roman" panose="02020603050405020304" pitchFamily="18" charset="0"/>
                <a:ea typeface="Calibri"/>
                <a:cs typeface="Times New Roman" panose="02020603050405020304" pitchFamily="18" charset="0"/>
              </a:rPr>
              <a:t>nổi</a:t>
            </a:r>
            <a:r>
              <a:rPr lang="en-US" sz="1679" b="1" u="none" strike="noStrike" dirty="0">
                <a:solidFill>
                  <a:srgbClr val="2B7C46"/>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2B7C46"/>
                </a:solidFill>
                <a:effectLst/>
                <a:uFillTx/>
                <a:latin typeface="Times New Roman" panose="02020603050405020304" pitchFamily="18" charset="0"/>
                <a:ea typeface="Calibri"/>
                <a:cs typeface="Times New Roman" panose="02020603050405020304" pitchFamily="18" charset="0"/>
              </a:rPr>
              <a:t>bật</a:t>
            </a:r>
            <a:endParaRPr lang="en-US" sz="1679"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Cấu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trúc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rõ</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ràng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dễ</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hiểu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đúng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tinh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thần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OOP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cơ</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đầu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Tự</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sinh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giúp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tránh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nhập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thủ</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công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Tạo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được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chứa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tổng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chính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xác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Menu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dễ</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thao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tác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dễ</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demo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trước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59" name="Text 8"/>
          <p:cNvSpPr/>
          <p:nvPr/>
        </p:nvSpPr>
        <p:spPr>
          <a:xfrm>
            <a:off x="4325040" y="1134000"/>
            <a:ext cx="3547440" cy="4736160"/>
          </a:xfrm>
          <a:prstGeom prst="rect">
            <a:avLst/>
          </a:prstGeom>
          <a:solidFill>
            <a:srgbClr val="FFF0F1"/>
          </a:solidFill>
          <a:ln w="12700">
            <a:solidFill>
              <a:srgbClr val="F2C6CB"/>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79"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Hạn</a:t>
            </a:r>
            <a:r>
              <a:rPr lang="en-US" sz="1679" b="1" u="none" strike="noStrike" dirty="0">
                <a:solidFill>
                  <a:srgbClr val="D65A67"/>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chế</a:t>
            </a:r>
            <a:r>
              <a:rPr lang="en-US" sz="1679" b="1" u="none" strike="noStrike" dirty="0">
                <a:solidFill>
                  <a:srgbClr val="D65A67"/>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hiện</a:t>
            </a:r>
            <a:r>
              <a:rPr lang="en-US" sz="1679" b="1" u="none" strike="noStrike" dirty="0">
                <a:solidFill>
                  <a:srgbClr val="D65A67"/>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D65A67"/>
                </a:solidFill>
                <a:effectLst/>
                <a:uFillTx/>
                <a:latin typeface="Times New Roman" panose="02020603050405020304" pitchFamily="18" charset="0"/>
                <a:ea typeface="Calibri"/>
                <a:cs typeface="Times New Roman" panose="02020603050405020304" pitchFamily="18" charset="0"/>
              </a:rPr>
              <a:t>tại</a:t>
            </a:r>
            <a:endParaRPr lang="en-US" sz="1679"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chức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năng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sửa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hoặc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trùng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khóa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trong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một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phiếu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Email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chỉ</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được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kiểm</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ở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mức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rất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cơ</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lưu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ra file hay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cơ</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sở</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giao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diện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thân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thiện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người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dùng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cuối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Chưa</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tài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khoản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thanh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toán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lịch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học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hoặc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thống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kê</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60" name="Text 9"/>
          <p:cNvSpPr/>
          <p:nvPr/>
        </p:nvSpPr>
        <p:spPr>
          <a:xfrm>
            <a:off x="7936920" y="1134000"/>
            <a:ext cx="3547440" cy="4736160"/>
          </a:xfrm>
          <a:prstGeom prst="rect">
            <a:avLst/>
          </a:prstGeom>
          <a:solidFill>
            <a:srgbClr val="F4F7FB"/>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679"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Bài</a:t>
            </a:r>
            <a:r>
              <a:rPr lang="en-US" sz="1679"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học</a:t>
            </a:r>
            <a:r>
              <a:rPr lang="en-US" sz="1679"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rút</a:t>
            </a:r>
            <a:r>
              <a:rPr lang="en-US" sz="1679"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ra </a:t>
            </a:r>
            <a:r>
              <a:rPr lang="en-US" sz="1679"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từ</a:t>
            </a:r>
            <a:r>
              <a:rPr lang="en-US" sz="1679"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đề</a:t>
            </a:r>
            <a:r>
              <a:rPr lang="en-US" sz="1679" b="1" u="none" strike="noStrike" dirty="0">
                <a:solidFill>
                  <a:srgbClr val="10233F"/>
                </a:solidFill>
                <a:effectLst/>
                <a:uFillTx/>
                <a:latin typeface="Times New Roman" panose="02020603050405020304" pitchFamily="18" charset="0"/>
                <a:ea typeface="Calibri"/>
                <a:cs typeface="Times New Roman" panose="02020603050405020304" pitchFamily="18" charset="0"/>
              </a:rPr>
              <a:t> </a:t>
            </a:r>
            <a:r>
              <a:rPr lang="en-US" sz="1679" b="1" u="none" strike="noStrike" dirty="0" err="1">
                <a:solidFill>
                  <a:srgbClr val="10233F"/>
                </a:solidFill>
                <a:effectLst/>
                <a:uFillTx/>
                <a:latin typeface="Times New Roman" panose="02020603050405020304" pitchFamily="18" charset="0"/>
                <a:ea typeface="Calibri"/>
                <a:cs typeface="Times New Roman" panose="02020603050405020304" pitchFamily="18" charset="0"/>
              </a:rPr>
              <a:t>tài</a:t>
            </a:r>
            <a:endParaRPr lang="en-US" sz="1679"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Khi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bài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toán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được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tách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thành</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lớp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việc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quản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mã</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nguồn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dễ</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nhiều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Viết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setter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validation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giúp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an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toàn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hơn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Cần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phân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biệt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rõ</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phần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giao</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diện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phần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xử</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lý</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và</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phần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dữ</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liệu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Một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hệ</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thống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thực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tế</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muốn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mở</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rộng</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tốt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phải</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chuẩn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bị</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sẵn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kiến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trúc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ngay</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từ</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đầu</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Từ</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phiên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bản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console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này</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có</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thể</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phát</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triển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tiếp</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lên</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GUI </a:t>
            </a:r>
            <a:r>
              <a:rPr lang="en-US" sz="1400" b="0" u="none" strike="noStrike" dirty="0" err="1">
                <a:solidFill>
                  <a:srgbClr val="16304A"/>
                </a:solidFill>
                <a:effectLst/>
                <a:uFillTx/>
                <a:latin typeface="Times New Roman" panose="02020603050405020304" pitchFamily="18" charset="0"/>
                <a:ea typeface="Calibri"/>
                <a:cs typeface="Times New Roman" panose="02020603050405020304" pitchFamily="18" charset="0"/>
              </a:rPr>
              <a:t>hoặc</a:t>
            </a:r>
            <a:r>
              <a:rPr lang="en-US" sz="1400" b="0" u="none" strike="noStrike" dirty="0">
                <a:solidFill>
                  <a:srgbClr val="16304A"/>
                </a:solidFill>
                <a:effectLst/>
                <a:uFillTx/>
                <a:latin typeface="Times New Roman" panose="02020603050405020304" pitchFamily="18" charset="0"/>
                <a:ea typeface="Calibri"/>
                <a:cs typeface="Times New Roman" panose="02020603050405020304" pitchFamily="18" charset="0"/>
              </a:rPr>
              <a:t> web app.</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1" name="Shape 0"/>
          <p:cNvSpPr/>
          <p:nvPr/>
        </p:nvSpPr>
        <p:spPr>
          <a:xfrm>
            <a:off x="0" y="0"/>
            <a:ext cx="12191400" cy="127800"/>
          </a:xfrm>
          <a:prstGeom prst="rect">
            <a:avLst/>
          </a:prstGeom>
          <a:solidFill>
            <a:srgbClr val="10233F"/>
          </a:solidFill>
          <a:ln w="12700">
            <a:solidFill>
              <a:srgbClr val="10233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Times New Roman" panose="02020603050405020304" pitchFamily="18" charset="0"/>
              <a:cs typeface="Times New Roman" panose="02020603050405020304" pitchFamily="18" charset="0"/>
            </a:endParaRPr>
          </a:p>
        </p:txBody>
      </p:sp>
      <p:sp>
        <p:nvSpPr>
          <p:cNvPr id="162" name="Shape 1"/>
          <p:cNvSpPr/>
          <p:nvPr/>
        </p:nvSpPr>
        <p:spPr>
          <a:xfrm>
            <a:off x="511920" y="365760"/>
            <a:ext cx="72720" cy="365400"/>
          </a:xfrm>
          <a:prstGeom prst="rect">
            <a:avLst/>
          </a:prstGeom>
          <a:solidFill>
            <a:srgbClr val="F2994A"/>
          </a:solidFill>
          <a:ln w="12700">
            <a:solidFill>
              <a:srgbClr val="F299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63" name="Shape 2"/>
          <p:cNvSpPr/>
          <p:nvPr/>
        </p:nvSpPr>
        <p:spPr>
          <a:xfrm>
            <a:off x="511920" y="6428160"/>
            <a:ext cx="11137320" cy="360"/>
          </a:xfrm>
          <a:prstGeom prst="line">
            <a:avLst/>
          </a:prstGeom>
          <a:ln w="12700">
            <a:solidFill>
              <a:srgbClr val="D8E2E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64" name="Text 3"/>
          <p:cNvSpPr/>
          <p:nvPr/>
        </p:nvSpPr>
        <p:spPr>
          <a:xfrm>
            <a:off x="548640" y="6473880"/>
            <a:ext cx="47545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Đăng</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ký</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khóa</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học</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online |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Bài</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tập</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a:t>
            </a:r>
            <a:r>
              <a:rPr lang="en-US" sz="1100" b="0" u="none" strike="noStrike" dirty="0" err="1">
                <a:solidFill>
                  <a:srgbClr val="7A8796"/>
                </a:solidFill>
                <a:effectLst/>
                <a:uFillTx/>
                <a:latin typeface="Times New Roman" panose="02020603050405020304" pitchFamily="18" charset="0"/>
                <a:cs typeface="Times New Roman" panose="02020603050405020304" pitchFamily="18" charset="0"/>
              </a:rPr>
              <a:t>lớn</a:t>
            </a:r>
            <a:r>
              <a:rPr lang="en-US" sz="1100" b="0" u="none" strike="noStrike" dirty="0">
                <a:solidFill>
                  <a:srgbClr val="7A8796"/>
                </a:solidFill>
                <a:effectLst/>
                <a:uFillTx/>
                <a:latin typeface="Times New Roman" panose="02020603050405020304" pitchFamily="18" charset="0"/>
                <a:cs typeface="Times New Roman" panose="02020603050405020304" pitchFamily="18" charset="0"/>
              </a:rPr>
              <a:t> OOP C++</a:t>
            </a:r>
            <a:endParaRPr lang="en-US" sz="1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65" name="Text 4"/>
          <p:cNvSpPr/>
          <p:nvPr/>
        </p:nvSpPr>
        <p:spPr>
          <a:xfrm>
            <a:off x="11155680" y="6455520"/>
            <a:ext cx="3196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50" b="1" u="none" strike="noStrike">
                <a:solidFill>
                  <a:srgbClr val="1E5AA8"/>
                </a:solidFill>
                <a:effectLst/>
                <a:uFillTx/>
                <a:latin typeface="Times New Roman" panose="02020603050405020304" pitchFamily="18" charset="0"/>
                <a:cs typeface="Times New Roman" panose="02020603050405020304" pitchFamily="18" charset="0"/>
              </a:rPr>
              <a:t>13</a:t>
            </a:r>
            <a:endParaRPr lang="en-US" sz="9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66" name="Text 5"/>
          <p:cNvSpPr/>
          <p:nvPr/>
        </p:nvSpPr>
        <p:spPr>
          <a:xfrm>
            <a:off x="713160" y="301680"/>
            <a:ext cx="10606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50" b="1" u="none" strike="noStrike">
                <a:solidFill>
                  <a:srgbClr val="16304A"/>
                </a:solidFill>
                <a:effectLst/>
                <a:uFillTx/>
                <a:latin typeface="Times New Roman" panose="02020603050405020304" pitchFamily="18" charset="0"/>
                <a:ea typeface="Calibri"/>
                <a:cs typeface="Times New Roman" panose="02020603050405020304" pitchFamily="18" charset="0"/>
              </a:rPr>
              <a:t>Hướng phát triển và kết luận</a:t>
            </a:r>
            <a:endParaRPr lang="en-US" sz="265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67" name="Text 6"/>
          <p:cNvSpPr/>
          <p:nvPr/>
        </p:nvSpPr>
        <p:spPr>
          <a:xfrm>
            <a:off x="713160" y="676800"/>
            <a:ext cx="10789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14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68" name="Text 7"/>
          <p:cNvSpPr/>
          <p:nvPr/>
        </p:nvSpPr>
        <p:spPr>
          <a:xfrm>
            <a:off x="713160" y="1170360"/>
            <a:ext cx="5357880" cy="4626360"/>
          </a:xfrm>
          <a:prstGeom prst="rect">
            <a:avLst/>
          </a:prstGeom>
          <a:solidFill>
            <a:srgbClr val="EEF5FF"/>
          </a:solidFill>
          <a:ln w="12700">
            <a:solidFill>
              <a:srgbClr val="C8DCF4"/>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700" b="1" u="none" strike="noStrike">
                <a:solidFill>
                  <a:srgbClr val="1E5AA8"/>
                </a:solidFill>
                <a:effectLst/>
                <a:uFillTx/>
                <a:latin typeface="Times New Roman" panose="02020603050405020304" pitchFamily="18" charset="0"/>
                <a:ea typeface="Calibri"/>
                <a:cs typeface="Times New Roman" panose="02020603050405020304" pitchFamily="18" charset="0"/>
              </a:rPr>
              <a:t>Hướng phát triển trong tương lai</a:t>
            </a:r>
            <a:endParaRPr lang="en-US" sz="170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80" b="0" u="none" strike="noStrike">
                <a:solidFill>
                  <a:srgbClr val="16304A"/>
                </a:solidFill>
                <a:effectLst/>
                <a:uFillTx/>
                <a:latin typeface="Times New Roman" panose="02020603050405020304" pitchFamily="18" charset="0"/>
                <a:ea typeface="Calibri"/>
                <a:cs typeface="Times New Roman" panose="02020603050405020304" pitchFamily="18" charset="0"/>
              </a:rPr>
              <a:t>• Áp dụng kế thừa và đa hình để mô hình hóa người dùng, giảng viên, quản trị viên.</a:t>
            </a:r>
            <a:endParaRPr lang="en-US" sz="128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80" b="0" u="none" strike="noStrike">
                <a:solidFill>
                  <a:srgbClr val="16304A"/>
                </a:solidFill>
                <a:effectLst/>
                <a:uFillTx/>
                <a:latin typeface="Times New Roman" panose="02020603050405020304" pitchFamily="18" charset="0"/>
                <a:ea typeface="Calibri"/>
                <a:cs typeface="Times New Roman" panose="02020603050405020304" pitchFamily="18" charset="0"/>
              </a:rPr>
              <a:t>• Lưu dữ liệu xuống file hoặc cơ sở dữ liệu để chương trình không mất dữ liệu sau khi thoát.</a:t>
            </a:r>
            <a:endParaRPr lang="en-US" sz="128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80" b="0" u="none" strike="noStrike">
                <a:solidFill>
                  <a:srgbClr val="16304A"/>
                </a:solidFill>
                <a:effectLst/>
                <a:uFillTx/>
                <a:latin typeface="Times New Roman" panose="02020603050405020304" pitchFamily="18" charset="0"/>
                <a:ea typeface="Calibri"/>
                <a:cs typeface="Times New Roman" panose="02020603050405020304" pitchFamily="18" charset="0"/>
              </a:rPr>
              <a:t>• Thêm chức năng sửa, xóa, tìm kiếm, sắp xếp và thống kê.</a:t>
            </a:r>
            <a:endParaRPr lang="en-US" sz="128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80" b="0" u="none" strike="noStrike">
                <a:solidFill>
                  <a:srgbClr val="16304A"/>
                </a:solidFill>
                <a:effectLst/>
                <a:uFillTx/>
                <a:latin typeface="Times New Roman" panose="02020603050405020304" pitchFamily="18" charset="0"/>
                <a:ea typeface="Calibri"/>
                <a:cs typeface="Times New Roman" panose="02020603050405020304" pitchFamily="18" charset="0"/>
              </a:rPr>
              <a:t>• Kiểm tra dữ liệu chặt chẽ hơn: email chuẩn, chống trùng khóa học, giới hạn học phí.</a:t>
            </a:r>
            <a:endParaRPr lang="en-US" sz="128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80" b="0" u="none" strike="noStrike">
                <a:solidFill>
                  <a:srgbClr val="16304A"/>
                </a:solidFill>
                <a:effectLst/>
                <a:uFillTx/>
                <a:latin typeface="Times New Roman" panose="02020603050405020304" pitchFamily="18" charset="0"/>
                <a:ea typeface="Calibri"/>
                <a:cs typeface="Times New Roman" panose="02020603050405020304" pitchFamily="18" charset="0"/>
              </a:rPr>
              <a:t>• Bổ sung giao diện GUI hoặc phát triển thành web app có đăng nhập và thanh toán online.</a:t>
            </a:r>
            <a:endParaRPr lang="en-US" sz="128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80" b="0" u="none" strike="noStrike">
                <a:solidFill>
                  <a:srgbClr val="16304A"/>
                </a:solidFill>
                <a:effectLst/>
                <a:uFillTx/>
                <a:latin typeface="Times New Roman" panose="02020603050405020304" pitchFamily="18" charset="0"/>
                <a:ea typeface="Calibri"/>
                <a:cs typeface="Times New Roman" panose="02020603050405020304" pitchFamily="18" charset="0"/>
              </a:rPr>
              <a:t>• Tích hợp lịch học, trạng thái thanh toán và thông báo cho học viên.</a:t>
            </a:r>
            <a:endParaRPr lang="en-US" sz="128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69" name="Text 8"/>
          <p:cNvSpPr/>
          <p:nvPr/>
        </p:nvSpPr>
        <p:spPr>
          <a:xfrm>
            <a:off x="6291000" y="1170360"/>
            <a:ext cx="5193360" cy="2980440"/>
          </a:xfrm>
          <a:prstGeom prst="rect">
            <a:avLst/>
          </a:prstGeom>
          <a:solidFill>
            <a:srgbClr val="FFFFFF"/>
          </a:solidFill>
          <a:ln w="12700">
            <a:solidFill>
              <a:srgbClr val="D8E2EC"/>
            </a:solidFill>
            <a:round/>
          </a:ln>
          <a:effectLst>
            <a:outerShdw blurRad="15120" dist="9673"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1800" tIns="1800" rIns="1800" bIns="1800" anchor="t">
            <a:normAutofit/>
          </a:bodyPr>
          <a:lstStyle/>
          <a:p>
            <a:pPr defTabSz="914400">
              <a:lnSpc>
                <a:spcPct val="100000"/>
              </a:lnSpc>
              <a:tabLst>
                <a:tab pos="0" algn="l"/>
              </a:tabLst>
            </a:pPr>
            <a:r>
              <a:rPr lang="en-US" sz="1700" b="1" u="none" strike="noStrike">
                <a:solidFill>
                  <a:srgbClr val="10233F"/>
                </a:solidFill>
                <a:effectLst/>
                <a:uFillTx/>
                <a:latin typeface="Times New Roman" panose="02020603050405020304" pitchFamily="18" charset="0"/>
                <a:ea typeface="Calibri"/>
                <a:cs typeface="Times New Roman" panose="02020603050405020304" pitchFamily="18" charset="0"/>
              </a:rPr>
              <a:t>Kết luận</a:t>
            </a:r>
            <a:endParaRPr lang="en-US" sz="1700" b="0" u="none" strike="noStrike">
              <a:solidFill>
                <a:srgbClr val="000000"/>
              </a:solidFill>
              <a:effectLst/>
              <a:uFillTx/>
              <a:latin typeface="Times New Roman" panose="02020603050405020304" pitchFamily="18" charset="0"/>
              <a:cs typeface="Times New Roman" panose="02020603050405020304" pitchFamily="18" charset="0"/>
            </a:endParaRPr>
          </a:p>
          <a:p>
            <a:pPr defTabSz="914400">
              <a:lnSpc>
                <a:spcPct val="100000"/>
              </a:lnSpc>
              <a:tabLst>
                <a:tab pos="0" algn="l"/>
              </a:tabLst>
            </a:pPr>
            <a:r>
              <a:rPr lang="en-US" sz="1280" b="0" u="none" strike="noStrike">
                <a:solidFill>
                  <a:srgbClr val="16304A"/>
                </a:solidFill>
                <a:effectLst/>
                <a:uFillTx/>
                <a:latin typeface="Times New Roman" panose="02020603050405020304" pitchFamily="18" charset="0"/>
                <a:ea typeface="Calibri"/>
                <a:cs typeface="Times New Roman" panose="02020603050405020304" pitchFamily="18" charset="0"/>
              </a:rPr>
              <a:t>Chương trình hiện tại đã mô phỏng được quy trình đăng ký khóa học online ở mức nền tảng: có quản lý học viên, quản lý khóa học, tạo phiếu và tính tổng học phí. Quan trọng hơn, mã nguồn thể hiện được tư duy lập trình hướng đối tượng khá rõ ràng, đủ tốt để nhóm trình bày về phân tích đề tài, thiết kế lớp, UML và luồng xử lý.</a:t>
            </a:r>
            <a:endParaRPr lang="en-US" sz="1280" b="0" u="none" strike="noStrike">
              <a:solidFill>
                <a:srgbClr val="000000"/>
              </a:solidFill>
              <a:effectLst/>
              <a:uFillTx/>
              <a:latin typeface="Times New Roman" panose="02020603050405020304" pitchFamily="18" charset="0"/>
              <a:cs typeface="Times New Roman" panose="02020603050405020304" pitchFamily="18" charset="0"/>
            </a:endParaRPr>
          </a:p>
        </p:txBody>
      </p:sp>
      <p:sp>
        <p:nvSpPr>
          <p:cNvPr id="171" name="Text 10"/>
          <p:cNvSpPr/>
          <p:nvPr/>
        </p:nvSpPr>
        <p:spPr>
          <a:xfrm>
            <a:off x="713160" y="6053400"/>
            <a:ext cx="107712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800" b="1" u="none" strike="noStrike" dirty="0">
                <a:solidFill>
                  <a:srgbClr val="10233F"/>
                </a:solidFill>
                <a:effectLst/>
                <a:uFillTx/>
                <a:latin typeface="Times New Roman" panose="02020603050405020304" pitchFamily="18" charset="0"/>
                <a:cs typeface="Times New Roman" panose="02020603050405020304" pitchFamily="18" charset="0"/>
              </a:rPr>
              <a:t>XIN CẢM ƠN CÔ VÀ CÁC BẠN ĐÃ LẮNG NGHE</a:t>
            </a:r>
            <a:r>
              <a:rPr lang="vi-VN" sz="1800" b="1" u="none" strike="noStrike" dirty="0">
                <a:solidFill>
                  <a:srgbClr val="10233F"/>
                </a:solidFill>
                <a:effectLst/>
                <a:uFillTx/>
                <a:latin typeface="Times New Roman" panose="02020603050405020304" pitchFamily="18" charset="0"/>
                <a:cs typeface="Times New Roman" panose="02020603050405020304" pitchFamily="18" charset="0"/>
              </a:rPr>
              <a:t> </a:t>
            </a:r>
            <a:endParaRPr lang="en-US" sz="1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TotalTime>
  <Words>3469</Words>
  <Application>Microsoft Office PowerPoint</Application>
  <PresentationFormat>Widescreen</PresentationFormat>
  <Paragraphs>363</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Roboto</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 TCC</dc:creator>
  <cp:lastModifiedBy>HI TCC</cp:lastModifiedBy>
  <cp:revision>7</cp:revision>
  <dcterms:modified xsi:type="dcterms:W3CDTF">2026-04-03T02:03:42Z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2026-03-26T09:13:20Z</dcterms:created>
  <dc:creator>OpenAI</dc:creator>
  <dc:description/>
  <dc:language>en-US</dc:language>
  <cp:lastModifiedBy>OpenAI</cp:lastModifiedBy>
  <dcterms:modified xsi:type="dcterms:W3CDTF">2026-03-26T09:13:20Z</dcterms:modified>
  <cp:revision>1</cp:revision>
  <dc:subject>Bài tập lớn OOP C++ - Đăng ký khóa học online</dc:subject>
  <dc:title>Hệ thống đăng ký khóa học online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13</vt:r8>
  </property>
  <property fmtid="{D5CDD505-2E9C-101B-9397-08002B2CF9AE}" pid="3" name="PresentationFormat">
    <vt:lpwstr>On-screen Show (16:9)</vt:lpwstr>
  </property>
  <property fmtid="{D5CDD505-2E9C-101B-9397-08002B2CF9AE}" pid="4" name="Slides">
    <vt:r8>13</vt:r8>
  </property>
</Properties>
</file>